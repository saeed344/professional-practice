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73" r:id="rId2"/>
    <p:sldId id="256" r:id="rId3"/>
    <p:sldId id="257" r:id="rId4"/>
    <p:sldId id="282" r:id="rId5"/>
    <p:sldId id="283" r:id="rId6"/>
    <p:sldId id="258" r:id="rId7"/>
    <p:sldId id="285" r:id="rId8"/>
    <p:sldId id="259" r:id="rId9"/>
    <p:sldId id="260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7" d="100"/>
          <a:sy n="77" d="100"/>
        </p:scale>
        <p:origin x="883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9B8BE6-919A-4C17-9EB1-1CBBB7536C51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699E3-D81E-4651-A75E-66DB2AB4F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79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Computer Science, most of our courses focus on </a:t>
            </a:r>
            <a:r>
              <a:rPr lang="en-US" b="1" dirty="0"/>
              <a:t>how to build technology</a:t>
            </a:r>
            <a:r>
              <a:rPr lang="en-US" dirty="0"/>
              <a:t>. We learn programming, databases, artificial intelligence, networks, software engineering, and algorithms.</a:t>
            </a:r>
          </a:p>
          <a:p>
            <a:r>
              <a:rPr lang="en-US" dirty="0"/>
              <a:t>But there is another question that is equally important:</a:t>
            </a:r>
          </a:p>
          <a:p>
            <a:r>
              <a:rPr lang="en-US" b="1" dirty="0"/>
              <a:t>Just because we can build something, does that mean we should build it?</a:t>
            </a:r>
            <a:endParaRPr lang="en-US" dirty="0"/>
          </a:p>
          <a:p>
            <a:r>
              <a:rPr lang="en-US" dirty="0"/>
              <a:t>This course is about answering that question.</a:t>
            </a:r>
          </a:p>
          <a:p>
            <a:r>
              <a:rPr lang="en-US" dirty="0"/>
              <a:t>As computing professionals, our work can affect individuals, organizations, communities, and even entire societies.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699E3-D81E-4651-A75E-66DB2AB4FFF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3234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Relativism</a:t>
            </a:r>
          </a:p>
          <a:p>
            <a:r>
              <a:rPr lang="en-US" dirty="0"/>
              <a:t>Ethical judgment may depend on context, culture, or perspective.</a:t>
            </a:r>
          </a:p>
          <a:p>
            <a:r>
              <a:rPr lang="en-US" b="1" dirty="0"/>
              <a:t>Divine Command Theory</a:t>
            </a:r>
          </a:p>
          <a:p>
            <a:r>
              <a:rPr lang="en-US" dirty="0"/>
              <a:t>Morality is considered in relation to divine commands.</a:t>
            </a:r>
          </a:p>
          <a:p>
            <a:r>
              <a:rPr lang="en-US" b="1" dirty="0"/>
              <a:t>Ethical Egoism</a:t>
            </a:r>
          </a:p>
          <a:p>
            <a:r>
              <a:rPr lang="en-US" dirty="0"/>
              <a:t>Focuses on self-interest.</a:t>
            </a:r>
          </a:p>
          <a:p>
            <a:r>
              <a:rPr lang="en-US" b="1" dirty="0"/>
              <a:t>Kantianism</a:t>
            </a:r>
          </a:p>
          <a:p>
            <a:r>
              <a:rPr lang="en-US" dirty="0"/>
              <a:t>Focuses on duty, principles, and respect for persons.</a:t>
            </a:r>
          </a:p>
          <a:p>
            <a:r>
              <a:rPr lang="en-US" b="1" dirty="0"/>
              <a:t>Utilitarianism</a:t>
            </a:r>
          </a:p>
          <a:p>
            <a:r>
              <a:rPr lang="en-US" dirty="0"/>
              <a:t>Focuses on consequences.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699E3-D81E-4651-A75E-66DB2AB4FFF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9152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slide covers data errors, software/billing errors, system failures, Therac-25, simulations, software engineering, warranties, and vendor liability.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699E3-D81E-4651-A75E-66DB2AB4FFF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254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51679" y="320040"/>
            <a:ext cx="4058162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900" b="1">
                <a:solidFill>
                  <a:srgbClr val="142748"/>
                </a:solidFill>
                <a:latin typeface="Aptos Display"/>
              </a:defRPr>
            </a:pPr>
            <a:r>
              <a:rPr dirty="0"/>
              <a:t>Classroom Expectations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271612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62E3A"/>
                </a:solidFill>
                <a:latin typeface="Aptos"/>
              </a:defRPr>
            </a:pPr>
            <a:r>
              <a:rPr dirty="0"/>
              <a:t>• </a:t>
            </a:r>
            <a:r>
              <a:rPr b="1" dirty="0"/>
              <a:t>Be prepared</a:t>
            </a:r>
            <a:r>
              <a:rPr dirty="0"/>
              <a:t>: bring required reading/materials and participate.</a:t>
            </a:r>
          </a:p>
          <a:p>
            <a:pPr>
              <a:spcAft>
                <a:spcPts val="900"/>
              </a:spcAft>
              <a:defRPr sz="1900">
                <a:solidFill>
                  <a:srgbClr val="262E3A"/>
                </a:solidFill>
                <a:latin typeface="Aptos"/>
              </a:defRPr>
            </a:pPr>
            <a:r>
              <a:rPr dirty="0"/>
              <a:t>• </a:t>
            </a:r>
            <a:r>
              <a:rPr sz="1900" b="1" dirty="0">
                <a:solidFill>
                  <a:srgbClr val="262E3A"/>
                </a:solidFill>
                <a:latin typeface="Aptos"/>
              </a:rPr>
              <a:t>Participate: </a:t>
            </a:r>
            <a:r>
              <a:rPr dirty="0"/>
              <a:t>ask questions and respectfully present viewpoints.</a:t>
            </a:r>
          </a:p>
          <a:p>
            <a:pPr>
              <a:spcAft>
                <a:spcPts val="900"/>
              </a:spcAft>
              <a:defRPr sz="1900">
                <a:solidFill>
                  <a:srgbClr val="262E3A"/>
                </a:solidFill>
                <a:latin typeface="Aptos"/>
              </a:defRPr>
            </a:pPr>
            <a:r>
              <a:rPr dirty="0"/>
              <a:t>• </a:t>
            </a:r>
            <a:r>
              <a:rPr sz="1900" b="1" dirty="0">
                <a:solidFill>
                  <a:srgbClr val="262E3A"/>
                </a:solidFill>
                <a:latin typeface="Aptos"/>
              </a:rPr>
              <a:t>Think critically: </a:t>
            </a:r>
            <a:r>
              <a:rPr dirty="0"/>
              <a:t>support claims with reasons and ethical principles.</a:t>
            </a:r>
          </a:p>
          <a:p>
            <a:pPr>
              <a:spcAft>
                <a:spcPts val="900"/>
              </a:spcAft>
              <a:defRPr sz="1900">
                <a:solidFill>
                  <a:srgbClr val="262E3A"/>
                </a:solidFill>
                <a:latin typeface="Aptos"/>
              </a:defRPr>
            </a:pPr>
            <a:r>
              <a:rPr dirty="0"/>
              <a:t>• </a:t>
            </a:r>
            <a:r>
              <a:rPr sz="1900" b="1" dirty="0">
                <a:solidFill>
                  <a:srgbClr val="262E3A"/>
                </a:solidFill>
                <a:latin typeface="Aptos"/>
              </a:rPr>
              <a:t>Consider stakeholders: </a:t>
            </a:r>
            <a:r>
              <a:rPr dirty="0"/>
              <a:t>ask who may be affected by a decision.</a:t>
            </a:r>
          </a:p>
          <a:p>
            <a:pPr>
              <a:spcAft>
                <a:spcPts val="900"/>
              </a:spcAft>
              <a:defRPr sz="1900">
                <a:solidFill>
                  <a:srgbClr val="262E3A"/>
                </a:solidFill>
                <a:latin typeface="Aptos"/>
              </a:defRPr>
            </a:pPr>
            <a:r>
              <a:rPr dirty="0"/>
              <a:t>• </a:t>
            </a:r>
            <a:r>
              <a:rPr sz="1900" b="1" dirty="0">
                <a:solidFill>
                  <a:srgbClr val="262E3A"/>
                </a:solidFill>
                <a:latin typeface="Aptos"/>
              </a:rPr>
              <a:t>Respect different opinions: </a:t>
            </a:r>
            <a:r>
              <a:rPr dirty="0"/>
              <a:t>listen and disagree respectfully.</a:t>
            </a:r>
          </a:p>
          <a:p>
            <a:pPr>
              <a:spcAft>
                <a:spcPts val="900"/>
              </a:spcAft>
              <a:defRPr sz="1900">
                <a:solidFill>
                  <a:srgbClr val="262E3A"/>
                </a:solidFill>
                <a:latin typeface="Aptos"/>
              </a:defRPr>
            </a:pPr>
            <a:r>
              <a:rPr dirty="0"/>
              <a:t>• </a:t>
            </a:r>
            <a:r>
              <a:rPr sz="1900" b="1" dirty="0">
                <a:solidFill>
                  <a:srgbClr val="262E3A"/>
                </a:solidFill>
                <a:latin typeface="Aptos"/>
              </a:rPr>
              <a:t>Maintain academic integrity: </a:t>
            </a:r>
            <a:r>
              <a:rPr dirty="0"/>
              <a:t>avoid plagiarism, unauthorized copying, fabrication, cheating, and misrepresentation.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11521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Ethics and Social Implications of Computing   |  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7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78240" y="1097280"/>
            <a:ext cx="320040" cy="320040"/>
          </a:xfrm>
          <a:prstGeom prst="ellipse">
            <a:avLst/>
          </a:prstGeom>
          <a:solidFill>
            <a:srgbClr val="47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58400" y="1828800"/>
            <a:ext cx="320040" cy="320040"/>
          </a:xfrm>
          <a:prstGeom prst="ellipse">
            <a:avLst/>
          </a:prstGeom>
          <a:solidFill>
            <a:srgbClr val="47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235440" y="2743200"/>
            <a:ext cx="320040" cy="320040"/>
          </a:xfrm>
          <a:prstGeom prst="ellipse">
            <a:avLst/>
          </a:prstGeom>
          <a:solidFill>
            <a:srgbClr val="47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607040" y="3383280"/>
            <a:ext cx="320040" cy="320040"/>
          </a:xfrm>
          <a:prstGeom prst="ellipse">
            <a:avLst/>
          </a:prstGeom>
          <a:solidFill>
            <a:srgbClr val="47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503920" y="4023360"/>
            <a:ext cx="320040" cy="320040"/>
          </a:xfrm>
          <a:prstGeom prst="ellipse">
            <a:avLst/>
          </a:prstGeom>
          <a:solidFill>
            <a:srgbClr val="47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149840" y="4754880"/>
            <a:ext cx="320040" cy="320040"/>
          </a:xfrm>
          <a:prstGeom prst="ellipse">
            <a:avLst/>
          </a:prstGeom>
          <a:solidFill>
            <a:srgbClr val="47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32838" y="331470"/>
            <a:ext cx="4813882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rPr lang="en-US" dirty="0"/>
              <a:t>Professional Practices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2903220" y="206883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D7E1F0"/>
                </a:solidFill>
                <a:latin typeface="Aptos"/>
              </a:defRPr>
            </a:pPr>
            <a:r>
              <a:rPr dirty="0"/>
              <a:t>Course Introduction &amp; Student Orientation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3811" y="3406140"/>
            <a:ext cx="296837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2 </a:t>
            </a:r>
            <a:r>
              <a:rPr dirty="0"/>
              <a:t>Credit Hours   •   32 Lectures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6647688"/>
            <a:ext cx="11521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Ethics and Social Implications of Computing   |  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748"/>
                </a:solidFill>
                <a:latin typeface="Aptos Display"/>
              </a:defRPr>
            </a:pPr>
            <a:r>
              <a:t>Welcome to the Course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508760"/>
            <a:ext cx="103784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100" b="1">
                <a:solidFill>
                  <a:srgbClr val="142748"/>
                </a:solidFill>
                <a:latin typeface="Aptos Display"/>
              </a:defRPr>
            </a:pPr>
            <a:r>
              <a:t>What should technology do, and what responsibilities do computing professionals have toward individuals, organizations, and society?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11521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Ethics and Social Implications of Computing   |  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D7536C-3956-BD30-D84E-B6B3CF3B541D}"/>
              </a:ext>
            </a:extLst>
          </p:cNvPr>
          <p:cNvSpPr txBox="1"/>
          <p:nvPr/>
        </p:nvSpPr>
        <p:spPr>
          <a:xfrm>
            <a:off x="1483414" y="4339081"/>
            <a:ext cx="8982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“Can you give me an example of something technology can do but perhaps should not do?”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237561-3A6F-EEFA-E4DB-531707251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FC4613-F9E2-B9E6-176A-EA3471C450EE}"/>
              </a:ext>
            </a:extLst>
          </p:cNvPr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748"/>
                </a:solidFill>
                <a:latin typeface="Aptos Display"/>
              </a:defRPr>
            </a:pPr>
            <a:r>
              <a:rPr dirty="0"/>
              <a:t>Welcome to the Course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73A5390-7EC1-BCD5-2653-612ECBDF5294}"/>
              </a:ext>
            </a:extLst>
          </p:cNvPr>
          <p:cNvSpPr/>
          <p:nvPr/>
        </p:nvSpPr>
        <p:spPr>
          <a:xfrm>
            <a:off x="914400" y="1508760"/>
            <a:ext cx="103784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100" b="1">
                <a:solidFill>
                  <a:srgbClr val="142748"/>
                </a:solidFill>
                <a:latin typeface="Aptos Display"/>
              </a:defRPr>
            </a:pPr>
            <a:r>
              <a:rPr lang="en-US" sz="3100" b="1" dirty="0">
                <a:solidFill>
                  <a:srgbClr val="142748"/>
                </a:solidFill>
                <a:latin typeface="Aptos Display"/>
              </a:rPr>
              <a:t>As computer scientists, we're trained to ask:</a:t>
            </a:r>
          </a:p>
          <a:p>
            <a:pPr algn="ctr">
              <a:defRPr sz="3100" b="1">
                <a:solidFill>
                  <a:srgbClr val="142748"/>
                </a:solidFill>
                <a:latin typeface="Aptos Display"/>
              </a:defRPr>
            </a:pPr>
            <a:endParaRPr lang="en-US" sz="3100" b="1" dirty="0">
              <a:solidFill>
                <a:srgbClr val="142748"/>
              </a:solidFill>
              <a:latin typeface="Aptos Display"/>
            </a:endParaRPr>
          </a:p>
          <a:p>
            <a:pPr marL="342900" indent="-342900" algn="ctr">
              <a:buFont typeface="Wingdings" panose="05000000000000000000" pitchFamily="2" charset="2"/>
              <a:buChar char="q"/>
              <a:defRPr sz="3100" b="1">
                <a:solidFill>
                  <a:srgbClr val="142748"/>
                </a:solidFill>
                <a:latin typeface="Aptos Display"/>
              </a:defRPr>
            </a:pPr>
            <a:r>
              <a:rPr lang="en-US" sz="2000" b="1" dirty="0">
                <a:solidFill>
                  <a:srgbClr val="142748"/>
                </a:solidFill>
                <a:latin typeface="Aptos Display"/>
              </a:rPr>
              <a:t>Can we collect this data? </a:t>
            </a:r>
          </a:p>
          <a:p>
            <a:pPr marL="342900" indent="-342900" algn="ctr">
              <a:buFont typeface="Wingdings" panose="05000000000000000000" pitchFamily="2" charset="2"/>
              <a:buChar char="q"/>
              <a:defRPr sz="3100" b="1">
                <a:solidFill>
                  <a:srgbClr val="142748"/>
                </a:solidFill>
                <a:latin typeface="Aptos Display"/>
              </a:defRPr>
            </a:pPr>
            <a:r>
              <a:rPr lang="en-US" sz="2000" b="1" dirty="0">
                <a:solidFill>
                  <a:srgbClr val="142748"/>
                </a:solidFill>
                <a:latin typeface="Aptos Display"/>
              </a:rPr>
              <a:t>Can we predict this behavior?</a:t>
            </a:r>
          </a:p>
          <a:p>
            <a:pPr marL="342900" indent="-342900" algn="ctr">
              <a:buFont typeface="Wingdings" panose="05000000000000000000" pitchFamily="2" charset="2"/>
              <a:buChar char="q"/>
              <a:defRPr sz="3100" b="1">
                <a:solidFill>
                  <a:srgbClr val="142748"/>
                </a:solidFill>
                <a:latin typeface="Aptos Display"/>
              </a:defRPr>
            </a:pPr>
            <a:r>
              <a:rPr lang="en-US" sz="2000" b="1" dirty="0">
                <a:solidFill>
                  <a:srgbClr val="142748"/>
                </a:solidFill>
                <a:latin typeface="Aptos Display"/>
              </a:rPr>
              <a:t>Can we monitor this person?</a:t>
            </a:r>
            <a:endParaRPr sz="2000" b="1" dirty="0">
              <a:solidFill>
                <a:srgbClr val="142748"/>
              </a:solidFill>
              <a:latin typeface="Aptos Display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554BF4-A3B5-9AD4-74F3-04050747917E}"/>
              </a:ext>
            </a:extLst>
          </p:cNvPr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053F55-8FE4-B607-43B2-0F5A71BDA69C}"/>
              </a:ext>
            </a:extLst>
          </p:cNvPr>
          <p:cNvSpPr txBox="1"/>
          <p:nvPr/>
        </p:nvSpPr>
        <p:spPr>
          <a:xfrm>
            <a:off x="320040" y="6647688"/>
            <a:ext cx="11521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Ethics and Social Implications of Computing   |  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F3E96C-59E5-EF53-D2A9-9549904EFB14}"/>
              </a:ext>
            </a:extLst>
          </p:cNvPr>
          <p:cNvSpPr txBox="1"/>
          <p:nvPr/>
        </p:nvSpPr>
        <p:spPr>
          <a:xfrm>
            <a:off x="3008948" y="1602445"/>
            <a:ext cx="614362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100" b="1" dirty="0">
                <a:solidFill>
                  <a:srgbClr val="142748"/>
                </a:solidFill>
                <a:latin typeface="Aptos Display"/>
              </a:rPr>
              <a:t>CAN vs. SHOULD</a:t>
            </a:r>
          </a:p>
        </p:txBody>
      </p:sp>
    </p:spTree>
    <p:extLst>
      <p:ext uri="{BB962C8B-B14F-4D97-AF65-F5344CB8AC3E}">
        <p14:creationId xmlns:p14="http://schemas.microsoft.com/office/powerpoint/2010/main" val="2756770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69B3F6-5C81-BBE3-9FE3-A09082130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D1B29D-BBDF-EF65-03DD-DD88103466D0}"/>
              </a:ext>
            </a:extLst>
          </p:cNvPr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748"/>
                </a:solidFill>
                <a:latin typeface="Aptos Display"/>
              </a:defRPr>
            </a:pPr>
            <a:r>
              <a:rPr dirty="0"/>
              <a:t>Welcome to the Course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1F09AFB-9E81-3B04-E7EF-B2FB66DFA9D0}"/>
              </a:ext>
            </a:extLst>
          </p:cNvPr>
          <p:cNvSpPr/>
          <p:nvPr/>
        </p:nvSpPr>
        <p:spPr>
          <a:xfrm>
            <a:off x="914400" y="1508760"/>
            <a:ext cx="103784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100" b="1">
                <a:solidFill>
                  <a:srgbClr val="142748"/>
                </a:solidFill>
                <a:latin typeface="Aptos Display"/>
              </a:defRPr>
            </a:pPr>
            <a:r>
              <a:rPr lang="en-US" sz="3100" b="1" dirty="0">
                <a:solidFill>
                  <a:srgbClr val="142748"/>
                </a:solidFill>
                <a:latin typeface="Aptos Display"/>
              </a:rPr>
              <a:t>Ethics asks a different question:</a:t>
            </a:r>
          </a:p>
          <a:p>
            <a:pPr marL="342900" indent="-342900" algn="ctr">
              <a:buFont typeface="Wingdings" panose="05000000000000000000" pitchFamily="2" charset="2"/>
              <a:buChar char="q"/>
              <a:defRPr sz="3100" b="1">
                <a:solidFill>
                  <a:srgbClr val="142748"/>
                </a:solidFill>
                <a:latin typeface="Aptos Display"/>
              </a:defRPr>
            </a:pPr>
            <a:r>
              <a:rPr lang="en-US" sz="2000" b="1" dirty="0">
                <a:solidFill>
                  <a:srgbClr val="142748"/>
                </a:solidFill>
                <a:latin typeface="Aptos Display"/>
              </a:rPr>
              <a:t>Is it ethically appropriate to do it?</a:t>
            </a:r>
          </a:p>
          <a:p>
            <a:pPr marL="342900" indent="-342900" algn="ctr">
              <a:buFont typeface="Wingdings" panose="05000000000000000000" pitchFamily="2" charset="2"/>
              <a:buChar char="q"/>
              <a:defRPr sz="3100" b="1">
                <a:solidFill>
                  <a:srgbClr val="142748"/>
                </a:solidFill>
                <a:latin typeface="Aptos Display"/>
              </a:defRPr>
            </a:pPr>
            <a:r>
              <a:rPr lang="en-US" sz="2000" b="1" dirty="0">
                <a:solidFill>
                  <a:srgbClr val="142748"/>
                </a:solidFill>
                <a:latin typeface="Aptos Display"/>
              </a:rPr>
              <a:t>Example: Facial Recognition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C20D12-6015-C4D2-CD18-59857AC94748}"/>
              </a:ext>
            </a:extLst>
          </p:cNvPr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46741F-F6EB-C426-71B2-4A5B23E4A51A}"/>
              </a:ext>
            </a:extLst>
          </p:cNvPr>
          <p:cNvSpPr txBox="1"/>
          <p:nvPr/>
        </p:nvSpPr>
        <p:spPr>
          <a:xfrm>
            <a:off x="320040" y="6647688"/>
            <a:ext cx="11521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Ethics and Social Implications of Computing   |  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0F3E1C-7CC3-3A5D-29B0-5340DB0EF7AB}"/>
              </a:ext>
            </a:extLst>
          </p:cNvPr>
          <p:cNvSpPr txBox="1"/>
          <p:nvPr/>
        </p:nvSpPr>
        <p:spPr>
          <a:xfrm>
            <a:off x="3008948" y="1602445"/>
            <a:ext cx="614362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100" b="1" dirty="0">
                <a:solidFill>
                  <a:srgbClr val="142748"/>
                </a:solidFill>
                <a:latin typeface="Aptos Display"/>
              </a:rPr>
              <a:t>CAN vs. SHOULD</a:t>
            </a:r>
          </a:p>
        </p:txBody>
      </p:sp>
    </p:spTree>
    <p:extLst>
      <p:ext uri="{BB962C8B-B14F-4D97-AF65-F5344CB8AC3E}">
        <p14:creationId xmlns:p14="http://schemas.microsoft.com/office/powerpoint/2010/main" val="1661842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3791" y="320040"/>
            <a:ext cx="8438322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42748"/>
                </a:solidFill>
                <a:latin typeface="Aptos Display"/>
              </a:defRPr>
            </a:pPr>
            <a:r>
              <a:rPr lang="en-US" sz="2900" b="1" dirty="0">
                <a:solidFill>
                  <a:srgbClr val="142748"/>
                </a:solidFill>
                <a:latin typeface="Aptos Display"/>
              </a:rPr>
              <a:t> Technical Capability vs. Ethical Responsibility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051560" y="1643932"/>
            <a:ext cx="10789920" cy="287771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F0000"/>
                </a:solidFill>
              </a:rPr>
              <a:t>Technical capability</a:t>
            </a:r>
          </a:p>
          <a:p>
            <a:r>
              <a:rPr lang="en-US" dirty="0"/>
              <a:t>Means:</a:t>
            </a:r>
          </a:p>
          <a:p>
            <a:r>
              <a:rPr lang="en-US" b="1" dirty="0"/>
              <a:t>“I have the knowledge and ability to build or operate something.”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F0000"/>
                </a:solidFill>
              </a:rPr>
              <a:t>Ethical responsibility</a:t>
            </a:r>
          </a:p>
          <a:p>
            <a:r>
              <a:rPr lang="en-US" dirty="0"/>
              <a:t>Means:</a:t>
            </a:r>
          </a:p>
          <a:p>
            <a:r>
              <a:rPr lang="en-US" b="1" dirty="0"/>
              <a:t>“I am responsible for considering how that capability is used and what consequences it may create.”</a:t>
            </a:r>
          </a:p>
          <a:p>
            <a:endParaRPr lang="en-US" b="1" dirty="0"/>
          </a:p>
          <a:p>
            <a:endParaRPr lang="en-US" dirty="0"/>
          </a:p>
          <a:p>
            <a:pPr>
              <a:spcAft>
                <a:spcPts val="900"/>
              </a:spcAft>
              <a:defRPr sz="1900">
                <a:solidFill>
                  <a:srgbClr val="262E3A"/>
                </a:solidFill>
                <a:latin typeface="Aptos"/>
              </a:defRPr>
            </a:pP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11521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Ethics and Social Implications of Computing   |  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B2E1F6-212B-DEF6-833B-EEADE82AE4CE}"/>
              </a:ext>
            </a:extLst>
          </p:cNvPr>
          <p:cNvSpPr txBox="1"/>
          <p:nvPr/>
        </p:nvSpPr>
        <p:spPr>
          <a:xfrm>
            <a:off x="1051560" y="3844008"/>
            <a:ext cx="614735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accent2"/>
                </a:solidFill>
              </a:rPr>
              <a:t>Database Administrator</a:t>
            </a:r>
          </a:p>
          <a:p>
            <a:r>
              <a:rPr lang="en-US" dirty="0"/>
              <a:t>You technically have access to: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Student records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Grades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Addresses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Phone numbers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Financial information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endParaRPr lang="en-US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D5B452-5A38-F14B-5396-8DF589E10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8C2606-FE88-2A0D-644E-E0F521BC38BD}"/>
              </a:ext>
            </a:extLst>
          </p:cNvPr>
          <p:cNvSpPr txBox="1"/>
          <p:nvPr/>
        </p:nvSpPr>
        <p:spPr>
          <a:xfrm>
            <a:off x="1013791" y="320040"/>
            <a:ext cx="8438322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142748"/>
                </a:solidFill>
                <a:latin typeface="Aptos Display"/>
              </a:defRPr>
            </a:pPr>
            <a:r>
              <a:rPr lang="en-US" sz="2900" b="1" dirty="0">
                <a:solidFill>
                  <a:srgbClr val="142748"/>
                </a:solidFill>
                <a:latin typeface="Aptos Display"/>
              </a:rPr>
              <a:t>STAKEHOLDERS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1E266B-99A6-E093-E528-DE89C53E94A7}"/>
              </a:ext>
            </a:extLst>
          </p:cNvPr>
          <p:cNvSpPr txBox="1"/>
          <p:nvPr/>
        </p:nvSpPr>
        <p:spPr>
          <a:xfrm>
            <a:off x="902473" y="858649"/>
            <a:ext cx="10789920" cy="592469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A </a:t>
            </a:r>
            <a:r>
              <a:rPr lang="en-US" b="1" dirty="0"/>
              <a:t>stakeholder</a:t>
            </a:r>
            <a:r>
              <a:rPr lang="en-US" dirty="0"/>
              <a:t> is a person, group, or organization that can be </a:t>
            </a:r>
            <a:r>
              <a:rPr lang="en-US" b="1" dirty="0"/>
              <a:t>affected by a decision or has an interest in its outcome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“Don't look only at yourself or your organization. Ask: Who else is affected?”</a:t>
            </a:r>
          </a:p>
          <a:p>
            <a:endParaRPr lang="en-US" dirty="0"/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Example: </a:t>
            </a:r>
            <a:r>
              <a:rPr lang="en-US" dirty="0"/>
              <a:t>A university uses AI to predict which students are likely to fail.</a:t>
            </a:r>
          </a:p>
          <a:p>
            <a:pPr lvl="1"/>
            <a:r>
              <a:rPr lang="en-US" b="1" dirty="0"/>
              <a:t>Who are the stakeholders?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Students</a:t>
            </a:r>
          </a:p>
          <a:p>
            <a:pPr lvl="1"/>
            <a:r>
              <a:rPr lang="en-US" dirty="0"/>
              <a:t>They could benefit from early academic support, but incorrect predictions could harm them.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Teachers</a:t>
            </a:r>
          </a:p>
          <a:p>
            <a:pPr lvl="1"/>
            <a:r>
              <a:rPr lang="en-US" dirty="0"/>
              <a:t>They may use the predictions to provide additional assistance.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University administration</a:t>
            </a:r>
          </a:p>
          <a:p>
            <a:pPr lvl="1"/>
            <a:r>
              <a:rPr lang="en-US" dirty="0"/>
              <a:t>They may want improved academic outcomes.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Parents</a:t>
            </a:r>
          </a:p>
          <a:p>
            <a:pPr lvl="1"/>
            <a:r>
              <a:rPr lang="en-US" dirty="0"/>
              <a:t>They may be indirectly affected.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AI developers</a:t>
            </a:r>
          </a:p>
          <a:p>
            <a:pPr lvl="1"/>
            <a:r>
              <a:rPr lang="en-US" dirty="0"/>
              <a:t>They have responsibilities concerning how the system is designed.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University IT staff</a:t>
            </a:r>
          </a:p>
          <a:p>
            <a:pPr lvl="1"/>
            <a:r>
              <a:rPr lang="en-US" dirty="0"/>
              <a:t>They may manage the system and its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Society</a:t>
            </a:r>
          </a:p>
          <a:p>
            <a:pPr lvl="1"/>
            <a:r>
              <a:rPr lang="en-US" dirty="0"/>
              <a:t>The system could influence how educational institutions use AI.</a:t>
            </a:r>
          </a:p>
          <a:p>
            <a:pPr>
              <a:spcAft>
                <a:spcPts val="900"/>
              </a:spcAft>
              <a:defRPr sz="1900">
                <a:solidFill>
                  <a:srgbClr val="262E3A"/>
                </a:solidFill>
                <a:latin typeface="Aptos"/>
              </a:defRPr>
            </a:pP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F71198-C6E2-B872-78FC-A77EDC28080D}"/>
              </a:ext>
            </a:extLst>
          </p:cNvPr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5946A9-A32E-CF13-0FF9-E719177F297E}"/>
              </a:ext>
            </a:extLst>
          </p:cNvPr>
          <p:cNvSpPr txBox="1"/>
          <p:nvPr/>
        </p:nvSpPr>
        <p:spPr>
          <a:xfrm>
            <a:off x="320040" y="6647688"/>
            <a:ext cx="11521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rPr dirty="0"/>
              <a:t>Ethics and Social Implications of Computing   |   3</a:t>
            </a:r>
          </a:p>
        </p:txBody>
      </p:sp>
    </p:spTree>
    <p:extLst>
      <p:ext uri="{BB962C8B-B14F-4D97-AF65-F5344CB8AC3E}">
        <p14:creationId xmlns:p14="http://schemas.microsoft.com/office/powerpoint/2010/main" val="1198525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748"/>
                </a:solidFill>
                <a:latin typeface="Aptos Display"/>
              </a:defRPr>
            </a:pPr>
            <a:r>
              <a:t>Why Is This Course Important?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25880"/>
            <a:ext cx="3594506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Software Engineer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May develop systems handling sensitive personal information.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8594" y="1325880"/>
            <a:ext cx="3594506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Data Scientist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May analyze large amounts of private or behavioral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4268" y="1325880"/>
            <a:ext cx="3594506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AI Developer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May create algorithms influencing important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035808"/>
            <a:ext cx="3594506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Cybersecurity Professional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May have access to highly confidential systems.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8594" y="3035808"/>
            <a:ext cx="3594506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Core Principle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Technical skills alone are not sufficient.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4268" y="3035808"/>
            <a:ext cx="3594506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Professional Formula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Technology + Ethics + Law + Society + Professional Responsibility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6647688"/>
            <a:ext cx="11521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Ethics and Social Implications of Computing   |  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177106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748"/>
                </a:solidFill>
                <a:latin typeface="Aptos Display"/>
              </a:defRPr>
            </a:pPr>
            <a:r>
              <a:rPr lang="en-US" dirty="0"/>
              <a:t>About/</a:t>
            </a:r>
            <a:r>
              <a:rPr dirty="0"/>
              <a:t>Course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5303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62E3A"/>
                </a:solidFill>
                <a:latin typeface="Aptos"/>
              </a:defRPr>
            </a:pPr>
            <a:r>
              <a:t>• Understand the meaning and importance of ethics in computing and IT.</a:t>
            </a:r>
          </a:p>
          <a:p>
            <a:pPr>
              <a:spcAft>
                <a:spcPts val="900"/>
              </a:spcAft>
              <a:defRPr sz="1600">
                <a:solidFill>
                  <a:srgbClr val="262E3A"/>
                </a:solidFill>
                <a:latin typeface="Aptos"/>
              </a:defRPr>
            </a:pPr>
            <a:r>
              <a:t>• Develop moral reasoning and ethical decision-making skills.</a:t>
            </a:r>
          </a:p>
          <a:p>
            <a:pPr>
              <a:spcAft>
                <a:spcPts val="900"/>
              </a:spcAft>
              <a:defRPr sz="1600">
                <a:solidFill>
                  <a:srgbClr val="262E3A"/>
                </a:solidFill>
                <a:latin typeface="Aptos"/>
              </a:defRPr>
            </a:pPr>
            <a:r>
              <a:t>• Examine positive and negative impacts of computing technologies.</a:t>
            </a:r>
          </a:p>
          <a:p>
            <a:pPr>
              <a:spcAft>
                <a:spcPts val="900"/>
              </a:spcAft>
              <a:defRPr sz="1600">
                <a:solidFill>
                  <a:srgbClr val="262E3A"/>
                </a:solidFill>
                <a:latin typeface="Aptos"/>
              </a:defRPr>
            </a:pPr>
            <a:r>
              <a:t>• Understand and apply major ethical theories to computing problems.</a:t>
            </a:r>
          </a:p>
          <a:p>
            <a:pPr>
              <a:spcAft>
                <a:spcPts val="900"/>
              </a:spcAft>
              <a:defRPr sz="1600">
                <a:solidFill>
                  <a:srgbClr val="262E3A"/>
                </a:solidFill>
                <a:latin typeface="Aptos"/>
              </a:defRPr>
            </a:pPr>
            <a:r>
              <a:t>• Understand responsibilities of computing professionals.</a:t>
            </a:r>
          </a:p>
          <a:p>
            <a:pPr>
              <a:spcAft>
                <a:spcPts val="900"/>
              </a:spcAft>
              <a:defRPr sz="1600">
                <a:solidFill>
                  <a:srgbClr val="262E3A"/>
                </a:solidFill>
                <a:latin typeface="Aptos"/>
              </a:defRPr>
            </a:pPr>
            <a:r>
              <a:t>• Examine ACM and IEEE Computer Society codes of ethics.</a:t>
            </a:r>
          </a:p>
          <a:p>
            <a:pPr>
              <a:spcAft>
                <a:spcPts val="900"/>
              </a:spcAft>
              <a:defRPr sz="1600">
                <a:solidFill>
                  <a:srgbClr val="262E3A"/>
                </a:solidFill>
                <a:latin typeface="Aptos"/>
              </a:defRPr>
            </a:pPr>
            <a:r>
              <a:t>• Understand intellectual property and digital-content issues.</a:t>
            </a:r>
          </a:p>
          <a:p>
            <a:pPr>
              <a:spcAft>
                <a:spcPts val="900"/>
              </a:spcAft>
              <a:defRPr sz="1600">
                <a:solidFill>
                  <a:srgbClr val="262E3A"/>
                </a:solidFill>
                <a:latin typeface="Aptos"/>
              </a:defRPr>
            </a:pPr>
            <a:r>
              <a:t>• Examine copyright, patents, trademarks, trade secrets, piracy, plagiarism, and fair use.</a:t>
            </a:r>
          </a:p>
          <a:p>
            <a:pPr>
              <a:spcAft>
                <a:spcPts val="900"/>
              </a:spcAft>
              <a:defRPr sz="1600">
                <a:solidFill>
                  <a:srgbClr val="262E3A"/>
                </a:solidFill>
                <a:latin typeface="Aptos"/>
              </a:defRPr>
            </a:pPr>
            <a:r>
              <a:t>• Understand privacy concerns from data collection, data mining, surveillance, and cloud computing.</a:t>
            </a:r>
          </a:p>
          <a:p>
            <a:pPr>
              <a:spcAft>
                <a:spcPts val="900"/>
              </a:spcAft>
              <a:defRPr sz="1600">
                <a:solidFill>
                  <a:srgbClr val="262E3A"/>
                </a:solidFill>
                <a:latin typeface="Aptos"/>
              </a:defRPr>
            </a:pPr>
            <a:r>
              <a:t>• Examine security, hacking, malware, cybercrime, and cyber attacks ethically.</a:t>
            </a:r>
          </a:p>
          <a:p>
            <a:pPr>
              <a:spcAft>
                <a:spcPts val="900"/>
              </a:spcAft>
              <a:defRPr sz="1600">
                <a:solidFill>
                  <a:srgbClr val="262E3A"/>
                </a:solidFill>
                <a:latin typeface="Aptos"/>
              </a:defRPr>
            </a:pPr>
            <a:r>
              <a:t>• Understand automation, globalization, employment, and the digital divide.</a:t>
            </a:r>
          </a:p>
          <a:p>
            <a:pPr>
              <a:spcAft>
                <a:spcPts val="900"/>
              </a:spcAft>
              <a:defRPr sz="1600">
                <a:solidFill>
                  <a:srgbClr val="262E3A"/>
                </a:solidFill>
                <a:latin typeface="Aptos"/>
              </a:defRPr>
            </a:pPr>
            <a:r>
              <a:t>• Critically analyze ethical problems and justify responsible decisions.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11521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Ethics and Social Implications of Computing   |   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748"/>
                </a:solidFill>
                <a:latin typeface="Aptos Display"/>
              </a:defRPr>
            </a:pPr>
            <a:r>
              <a:t>Teaching &amp; Learning Strategies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80160"/>
            <a:ext cx="3594506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Lectures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Major concepts, theories, principles, and examples.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8594" y="1280160"/>
            <a:ext cx="3594506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Class Discussions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Express and justify positions using ethical reasoning.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4268" y="1280160"/>
            <a:ext cx="3594506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Case Studies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Apply principles to real-world computing problems.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035808"/>
            <a:ext cx="3594506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Videos &amp; Clips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Use practical examples to stimulate discussion.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8594" y="3035808"/>
            <a:ext cx="3594506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Quizzes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Short, ungraded checks to reinforce understanding.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4268" y="3035808"/>
            <a:ext cx="3594506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Participation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Q&amp;A, debates, group activities, analysis, and presentations.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6647688"/>
            <a:ext cx="11521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Ethics and Social Implications of Computing   |   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748"/>
                </a:solidFill>
                <a:latin typeface="Aptos Display"/>
              </a:defRPr>
            </a:pPr>
            <a:r>
              <a:t>Course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80160"/>
            <a:ext cx="3594506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1. Introduction to Ethics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298594" y="1280160"/>
            <a:ext cx="3594506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2. Ethical Theories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94268" y="1280160"/>
            <a:ext cx="3594506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3. Social Implications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2898648"/>
            <a:ext cx="3594506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4. Professional Ethics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298594" y="2898648"/>
            <a:ext cx="3594506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5. Intellectual Property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94268" y="2898648"/>
            <a:ext cx="3594506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6. Privacy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4517136"/>
            <a:ext cx="3594506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7. Computer &amp; Network Security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298594" y="4517136"/>
            <a:ext cx="3594506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8. Computer Reliability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94268" y="4517136"/>
            <a:ext cx="3594506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9. Computing, Work &amp; Society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6647688"/>
            <a:ext cx="11521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Ethics and Social Implications of Computing   |   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748"/>
                </a:solidFill>
                <a:latin typeface="Aptos Display"/>
              </a:defRPr>
            </a:pPr>
            <a:r>
              <a:t>Ethical Theories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34440"/>
            <a:ext cx="2645587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Relativism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Ethical judgments can vary by context, culture, or perspective.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49675" y="1234440"/>
            <a:ext cx="2645587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Divine Command Theory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Examines morality in relation to divine commands.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6431" y="1234440"/>
            <a:ext cx="2645587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Ethical Egoism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Considers ethical action from the perspective of self-interest.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43187" y="1234440"/>
            <a:ext cx="2645587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Kantianism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Emphasizes duties, principles, and respect for persons.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447288"/>
            <a:ext cx="2645587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Utilitarianism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Evaluates actions by consequences, benefits, and harms.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49675" y="3447288"/>
            <a:ext cx="2645587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Social Contract Theory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Considers obligations arising from agreements and social cooperation.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6431" y="3447288"/>
            <a:ext cx="2645587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Virtue Ethics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Focuses on character and responsible 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43187" y="3447288"/>
            <a:ext cx="2645587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Compare Theories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Evaluate which theory is workable for a given ethical problem.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6647688"/>
            <a:ext cx="11521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Ethics and Social Implications of Computing   |   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748"/>
                </a:solidFill>
                <a:latin typeface="Aptos Display"/>
              </a:defRPr>
            </a:pPr>
            <a:r>
              <a:t>Social Implications of Computing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80160"/>
            <a:ext cx="3594506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Internet Interactions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Spam, communication, trust, and online behavior.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8594" y="1280160"/>
            <a:ext cx="3594506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Messaging &amp; Social Media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How digital communication changes relationships.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4268" y="1280160"/>
            <a:ext cx="3594506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Censorship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Freedom of expression and limits on online content.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081528"/>
            <a:ext cx="3594506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Children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Inappropriate content and digital protection.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8594" y="3081528"/>
            <a:ext cx="3594506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Trust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Breaking trust and responsibilities in digital environments.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4268" y="3081528"/>
            <a:ext cx="3594506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Internet Addiction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Social and personal consequences of excessive use.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6647688"/>
            <a:ext cx="11521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Ethics and Social Implications of Computing   |   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748"/>
                </a:solidFill>
                <a:latin typeface="Aptos Display"/>
              </a:defRPr>
            </a:pPr>
            <a:r>
              <a:t>Professional Ethics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80160"/>
            <a:ext cx="3594506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Computing as a Profession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What makes computing a professional field?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8594" y="1280160"/>
            <a:ext cx="3594506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Professional Responsibility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Professionals are accountable for consequences of their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4268" y="1280160"/>
            <a:ext cx="3594506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Responsible Relationships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Eight principles for morally responsible relationships.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081528"/>
            <a:ext cx="3594506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ACM Code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Professional and ethical guidance for computing practitioners.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8594" y="3081528"/>
            <a:ext cx="3594506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IEEE Computer Society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Professional responsibilities and ethical practice.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4268" y="3081528"/>
            <a:ext cx="3594506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Core Idea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Technical success does not remove ethical responsibility.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6647688"/>
            <a:ext cx="11521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Ethics and Social Implications of Computing   |   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748"/>
                </a:solidFill>
                <a:latin typeface="Aptos Display"/>
              </a:defRPr>
            </a:pPr>
            <a:r>
              <a:t>Intellectual Property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80160"/>
            <a:ext cx="3594506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Copyright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Protection of creative digital works.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8594" y="1280160"/>
            <a:ext cx="3594506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Patents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Protection associated with inventions and innovations.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4268" y="1280160"/>
            <a:ext cx="3594506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Trademarks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Protection of identifying marks and brands.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081528"/>
            <a:ext cx="3594506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Trade Secrets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Protection of confidential business information.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8594" y="3081528"/>
            <a:ext cx="3594506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Fair Use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Limits and permissions concerning use of protected works.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4268" y="3081528"/>
            <a:ext cx="3594506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Software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Protection, piracy, open source, P2P networks, and cyberlockers.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6647688"/>
            <a:ext cx="11521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Ethics and Social Implications of Computing   |   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748"/>
                </a:solidFill>
                <a:latin typeface="Aptos Display"/>
              </a:defRPr>
            </a:pPr>
            <a:r>
              <a:t>Privacy in the Digital 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80160"/>
            <a:ext cx="3594506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Information Disclosure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When and how personal information is revealed.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8594" y="1280160"/>
            <a:ext cx="3594506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Data Gathering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Collection creates privacy implications.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4268" y="1280160"/>
            <a:ext cx="3594506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Data Mining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Analyzing data can reveal sensitive patterns.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081528"/>
            <a:ext cx="3594506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Surveillance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Monitoring creates ethical and civil-liberty concerns.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8594" y="3081528"/>
            <a:ext cx="3594506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Cloud Computing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Distributed storage and processing raise privacy questions.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4268" y="3081528"/>
            <a:ext cx="3594506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Privacy Protection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Technologies, legislation, and responsible practices.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6647688"/>
            <a:ext cx="11521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Ethics and Social Implications of Computing   |   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748"/>
                </a:solidFill>
                <a:latin typeface="Aptos Display"/>
              </a:defRPr>
            </a:pPr>
            <a:r>
              <a:t>Computer &amp; Network Security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80160"/>
            <a:ext cx="3594506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Hacking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Unauthorized access and its ethical implications.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8594" y="1280160"/>
            <a:ext cx="3594506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Malware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Malicious software and associated harms.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4268" y="1280160"/>
            <a:ext cx="3594506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Cybercrime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Criminal activity involving digital systems.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081528"/>
            <a:ext cx="3594506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Cyber Attacks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Threats to systems, networks, and organizations.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8594" y="3081528"/>
            <a:ext cx="3594506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SCADA Systems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Security and safety in critical control environments.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4268" y="3081528"/>
            <a:ext cx="3594506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Online Voting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Security, reliability, trust, and responsibility.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6647688"/>
            <a:ext cx="11521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Ethics and Social Implications of Computing   |   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748"/>
                </a:solidFill>
                <a:latin typeface="Aptos Display"/>
              </a:defRPr>
            </a:pPr>
            <a:r>
              <a:t>Computer Reliability &amp; Professional Responsibility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800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62E3A"/>
                </a:solidFill>
                <a:latin typeface="Aptos"/>
              </a:defRPr>
            </a:pPr>
            <a:r>
              <a:t>• Computer errors: data entry and data retrieval problems</a:t>
            </a:r>
          </a:p>
          <a:p>
            <a:pPr>
              <a:spcAft>
                <a:spcPts val="900"/>
              </a:spcAft>
              <a:defRPr sz="2000">
                <a:solidFill>
                  <a:srgbClr val="262E3A"/>
                </a:solidFill>
                <a:latin typeface="Aptos"/>
              </a:defRPr>
            </a:pPr>
            <a:r>
              <a:t>• Software failures and billing errors</a:t>
            </a:r>
          </a:p>
          <a:p>
            <a:pPr>
              <a:spcAft>
                <a:spcPts val="900"/>
              </a:spcAft>
              <a:defRPr sz="2000">
                <a:solidFill>
                  <a:srgbClr val="262E3A"/>
                </a:solidFill>
                <a:latin typeface="Aptos"/>
              </a:defRPr>
            </a:pPr>
            <a:r>
              <a:t>• Notable software system failures</a:t>
            </a:r>
          </a:p>
          <a:p>
            <a:pPr>
              <a:spcAft>
                <a:spcPts val="900"/>
              </a:spcAft>
              <a:defRPr sz="2000">
                <a:solidFill>
                  <a:srgbClr val="262E3A"/>
                </a:solidFill>
                <a:latin typeface="Aptos"/>
              </a:defRPr>
            </a:pPr>
            <a:r>
              <a:t>• Therac-25 case: safety-critical software and professional responsibility</a:t>
            </a:r>
          </a:p>
          <a:p>
            <a:pPr>
              <a:spcAft>
                <a:spcPts val="900"/>
              </a:spcAft>
              <a:defRPr sz="2000">
                <a:solidFill>
                  <a:srgbClr val="262E3A"/>
                </a:solidFill>
                <a:latin typeface="Aptos"/>
              </a:defRPr>
            </a:pPr>
            <a:r>
              <a:t>• Computer simulations and their appropriate use</a:t>
            </a:r>
          </a:p>
          <a:p>
            <a:pPr>
              <a:spcAft>
                <a:spcPts val="900"/>
              </a:spcAft>
              <a:defRPr sz="2000">
                <a:solidFill>
                  <a:srgbClr val="262E3A"/>
                </a:solidFill>
                <a:latin typeface="Aptos"/>
              </a:defRPr>
            </a:pPr>
            <a:r>
              <a:t>• Software engineering responsibility</a:t>
            </a:r>
          </a:p>
          <a:p>
            <a:pPr>
              <a:spcAft>
                <a:spcPts val="900"/>
              </a:spcAft>
              <a:defRPr sz="2000">
                <a:solidFill>
                  <a:srgbClr val="262E3A"/>
                </a:solidFill>
                <a:latin typeface="Aptos"/>
              </a:defRPr>
            </a:pPr>
            <a:r>
              <a:t>• Software warranties and vendor liability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11521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Ethics and Social Implications of Computing   |   15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748"/>
                </a:solidFill>
                <a:latin typeface="Aptos Display"/>
              </a:defRPr>
            </a:pPr>
            <a:r>
              <a:t>Computing, Work, Wealth &amp; Society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80160"/>
            <a:ext cx="3594506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Automation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Changing tasks, jobs, productivity, and employment.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8594" y="1280160"/>
            <a:ext cx="3594506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Workplace Transformation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Technology reshapes how people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4268" y="1280160"/>
            <a:ext cx="3594506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Globalization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Computing connects organizations and labor markets globally.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081528"/>
            <a:ext cx="3594506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Digital Divide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Unequal access to technology and its benefits.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8594" y="3081528"/>
            <a:ext cx="3594506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Technology &amp; Health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Computing can affect workplace and personal well-being.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4268" y="3081528"/>
            <a:ext cx="3594506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Privacy &amp; Government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Government use of technology raises privacy questions.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6647688"/>
            <a:ext cx="11521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Ethics and Social Implications of Computing   |   16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748"/>
                </a:solidFill>
                <a:latin typeface="Aptos Display"/>
              </a:defRPr>
            </a:pPr>
            <a:r>
              <a:t>Ethical Decision-Making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34440"/>
            <a:ext cx="2645587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1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Identify the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49675" y="1234440"/>
            <a:ext cx="2645587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2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Identify stakeholders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6431" y="1234440"/>
            <a:ext cx="2645587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3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List alternatives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43187" y="1234440"/>
            <a:ext cx="2645587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4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Consider consequences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264408"/>
            <a:ext cx="2645587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5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Apply ethical principles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49675" y="3264408"/>
            <a:ext cx="2645587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6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Make a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6431" y="3264408"/>
            <a:ext cx="2645587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7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Justify the decision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6647688"/>
            <a:ext cx="11521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Ethics and Social Implications of Computing   |   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748"/>
                </a:solidFill>
                <a:latin typeface="Aptos Display"/>
              </a:defRPr>
            </a:pPr>
            <a:r>
              <a:t>Important Questions We Will Explore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53949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62E3A"/>
                </a:solidFill>
                <a:latin typeface="Aptos"/>
              </a:defRPr>
            </a:pPr>
            <a:r>
              <a:t>• Is everything technology allows us to do ethically acceptable?</a:t>
            </a:r>
          </a:p>
          <a:p>
            <a:pPr>
              <a:spcAft>
                <a:spcPts val="900"/>
              </a:spcAft>
              <a:defRPr sz="1600">
                <a:solidFill>
                  <a:srgbClr val="262E3A"/>
                </a:solidFill>
                <a:latin typeface="Aptos"/>
              </a:defRPr>
            </a:pPr>
            <a:r>
              <a:t>• Who owns digital information?</a:t>
            </a:r>
          </a:p>
          <a:p>
            <a:pPr>
              <a:spcAft>
                <a:spcPts val="900"/>
              </a:spcAft>
              <a:defRPr sz="1600">
                <a:solidFill>
                  <a:srgbClr val="262E3A"/>
                </a:solidFill>
                <a:latin typeface="Aptos"/>
              </a:defRPr>
            </a:pPr>
            <a:r>
              <a:t>• Should companies collect and analyze personal data?</a:t>
            </a:r>
          </a:p>
          <a:p>
            <a:pPr>
              <a:spcAft>
                <a:spcPts val="900"/>
              </a:spcAft>
              <a:defRPr sz="1600">
                <a:solidFill>
                  <a:srgbClr val="262E3A"/>
                </a:solidFill>
                <a:latin typeface="Aptos"/>
              </a:defRPr>
            </a:pPr>
            <a:r>
              <a:t>• When does cybersecurity become an ethical issue?</a:t>
            </a:r>
          </a:p>
          <a:p>
            <a:pPr>
              <a:spcAft>
                <a:spcPts val="900"/>
              </a:spcAft>
              <a:defRPr sz="1600">
                <a:solidFill>
                  <a:srgbClr val="262E3A"/>
                </a:solidFill>
                <a:latin typeface="Aptos"/>
              </a:defRPr>
            </a:pPr>
            <a:r>
              <a:t>• Should employees be replaced by automation if efficiency increases?</a:t>
            </a:r>
          </a:p>
          <a:p>
            <a:pPr>
              <a:spcAft>
                <a:spcPts val="900"/>
              </a:spcAft>
              <a:defRPr sz="1600">
                <a:solidFill>
                  <a:srgbClr val="262E3A"/>
                </a:solidFill>
                <a:latin typeface="Aptos"/>
              </a:defRPr>
            </a:pPr>
            <a:r>
              <a:t>• Should governments monitor citizens for security purposes?</a:t>
            </a:r>
          </a:p>
          <a:p>
            <a:pPr>
              <a:spcAft>
                <a:spcPts val="900"/>
              </a:spcAft>
              <a:defRPr sz="1600">
                <a:solidFill>
                  <a:srgbClr val="262E3A"/>
                </a:solidFill>
                <a:latin typeface="Aptos"/>
              </a:defRPr>
            </a:pPr>
            <a:r>
              <a:t>• Who is responsible when software causes serious harm?</a:t>
            </a:r>
          </a:p>
          <a:p>
            <a:pPr>
              <a:spcAft>
                <a:spcPts val="900"/>
              </a:spcAft>
              <a:defRPr sz="1600">
                <a:solidFill>
                  <a:srgbClr val="262E3A"/>
                </a:solidFill>
                <a:latin typeface="Aptos"/>
              </a:defRPr>
            </a:pPr>
            <a:r>
              <a:t>• Should freedom of expression have limits on the Internet?</a:t>
            </a:r>
          </a:p>
          <a:p>
            <a:pPr>
              <a:spcAft>
                <a:spcPts val="900"/>
              </a:spcAft>
              <a:defRPr sz="1600">
                <a:solidFill>
                  <a:srgbClr val="262E3A"/>
                </a:solidFill>
                <a:latin typeface="Aptos"/>
              </a:defRPr>
            </a:pPr>
            <a:r>
              <a:t>• Is downloading copyrighted content ever justified?</a:t>
            </a:r>
          </a:p>
          <a:p>
            <a:pPr>
              <a:spcAft>
                <a:spcPts val="900"/>
              </a:spcAft>
              <a:defRPr sz="1600">
                <a:solidFill>
                  <a:srgbClr val="262E3A"/>
                </a:solidFill>
                <a:latin typeface="Aptos"/>
              </a:defRPr>
            </a:pPr>
            <a:r>
              <a:t>• Can an AI system make an ethical decision?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11521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Ethics and Social Implications of Computing   |   19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748"/>
                </a:solidFill>
                <a:latin typeface="Aptos Display"/>
              </a:defRPr>
            </a:pPr>
            <a:r>
              <a:t>First-Class Activity: AI Student Prediction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508760"/>
            <a:ext cx="103784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100" b="1">
                <a:solidFill>
                  <a:srgbClr val="142748"/>
                </a:solidFill>
                <a:latin typeface="Aptos Display"/>
              </a:defRPr>
            </a:pPr>
            <a:r>
              <a:t>An AI system predicts which students are likely to fail a course. It is highly accurate, but it incorrectly labels some students.</a:t>
            </a:r>
          </a:p>
          <a:p>
            <a:pPr algn="ctr">
              <a:spcBef>
                <a:spcPts val="1800"/>
              </a:spcBef>
              <a:defRPr sz="1600">
                <a:solidFill>
                  <a:srgbClr val="2E67B2"/>
                </a:solidFill>
                <a:latin typeface="Aptos"/>
              </a:defRPr>
            </a:pPr>
            <a:r>
              <a:t>Discuss the ethical implications.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074920"/>
            <a:ext cx="10698480" cy="1143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• Should the university use the system?</a:t>
            </a:r>
          </a:p>
          <a:p>
            <a:pPr>
              <a:spcAft>
                <a:spcPts val="9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• Who is responsible for a wrong prediction?</a:t>
            </a:r>
          </a:p>
          <a:p>
            <a:pPr>
              <a:spcAft>
                <a:spcPts val="9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• Should students know they are being evaluated by AI?</a:t>
            </a:r>
          </a:p>
          <a:p>
            <a:pPr>
              <a:spcAft>
                <a:spcPts val="9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• Should personal data be collected for this purpose?</a:t>
            </a:r>
          </a:p>
          <a:p>
            <a:pPr>
              <a:spcAft>
                <a:spcPts val="9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• What are the positive and negative consequences?</a:t>
            </a:r>
          </a:p>
          <a:p>
            <a:pPr>
              <a:spcAft>
                <a:spcPts val="9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• What would you do if you approved the system?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6647688"/>
            <a:ext cx="11521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Ethics and Social Implications of Computing   |   20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748"/>
                </a:solidFill>
                <a:latin typeface="Aptos Display"/>
              </a:defRPr>
            </a:pPr>
            <a:r>
              <a:t>How to Build an Ethical Argument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17320"/>
            <a:ext cx="5492343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1. State Your Position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Clearly explain what you think should be done.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96431" y="1417320"/>
            <a:ext cx="5492343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2. Support It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Use ethical principles, evidence, and likely consequences.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675888"/>
            <a:ext cx="5492343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3. Consider Stakeholders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Identify who benefits, who may be harmed, and who carries responsibility.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6431" y="3675888"/>
            <a:ext cx="5492343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4. Reach a Conclusion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Recommend the most ethically responsible option and explain why.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47688"/>
            <a:ext cx="11521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Ethics and Social Implications of Computing   |   21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748"/>
                </a:solidFill>
                <a:latin typeface="Aptos Display"/>
              </a:defRPr>
            </a:pPr>
            <a:r>
              <a:t>32-Lecture Course Calendar | Lectures 1–16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201400" cy="5440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62E3A"/>
                </a:solidFill>
                <a:latin typeface="Aptos"/>
              </a:defRPr>
            </a:pPr>
            <a:r>
              <a:t>• 1. Introduction to Ethics</a:t>
            </a:r>
          </a:p>
          <a:p>
            <a:pPr>
              <a:spcAft>
                <a:spcPts val="900"/>
              </a:spcAft>
              <a:defRPr sz="1300">
                <a:solidFill>
                  <a:srgbClr val="262E3A"/>
                </a:solidFill>
                <a:latin typeface="Aptos"/>
              </a:defRPr>
            </a:pPr>
            <a:r>
              <a:t>• 2. Good Business Ethics and Ethics in Information Technology</a:t>
            </a:r>
          </a:p>
          <a:p>
            <a:pPr>
              <a:spcAft>
                <a:spcPts val="900"/>
              </a:spcAft>
              <a:defRPr sz="1300">
                <a:solidFill>
                  <a:srgbClr val="262E3A"/>
                </a:solidFill>
                <a:latin typeface="Aptos"/>
              </a:defRPr>
            </a:pPr>
            <a:r>
              <a:t>• 3. Ethical Theories; Subjective Relativism; Cultural Relativism; Divine Command Theory</a:t>
            </a:r>
          </a:p>
          <a:p>
            <a:pPr>
              <a:spcAft>
                <a:spcPts val="900"/>
              </a:spcAft>
              <a:defRPr sz="1300">
                <a:solidFill>
                  <a:srgbClr val="262E3A"/>
                </a:solidFill>
                <a:latin typeface="Aptos"/>
              </a:defRPr>
            </a:pPr>
            <a:r>
              <a:t>• 4. Ethical Egoism; Kantianism; Act Utilitarianism</a:t>
            </a:r>
          </a:p>
          <a:p>
            <a:pPr>
              <a:spcAft>
                <a:spcPts val="900"/>
              </a:spcAft>
              <a:defRPr sz="1300">
                <a:solidFill>
                  <a:srgbClr val="262E3A"/>
                </a:solidFill>
                <a:latin typeface="Aptos"/>
              </a:defRPr>
            </a:pPr>
            <a:r>
              <a:t>• 5. Rule Utilitarianism; Social Contract Theory; Virtue Ethics; Comparing Ethical Theories</a:t>
            </a:r>
          </a:p>
          <a:p>
            <a:pPr>
              <a:spcAft>
                <a:spcPts val="900"/>
              </a:spcAft>
              <a:defRPr sz="1300">
                <a:solidFill>
                  <a:srgbClr val="262E3A"/>
                </a:solidFill>
                <a:latin typeface="Aptos"/>
              </a:defRPr>
            </a:pPr>
            <a:r>
              <a:t>• 6. Spam and Internet Interactions</a:t>
            </a:r>
          </a:p>
          <a:p>
            <a:pPr>
              <a:spcAft>
                <a:spcPts val="900"/>
              </a:spcAft>
              <a:defRPr sz="1300">
                <a:solidFill>
                  <a:srgbClr val="262E3A"/>
                </a:solidFill>
                <a:latin typeface="Aptos"/>
              </a:defRPr>
            </a:pPr>
            <a:r>
              <a:t>• 7. Text Messaging; Censorship; Freedom of Expression</a:t>
            </a:r>
          </a:p>
          <a:p>
            <a:pPr>
              <a:spcAft>
                <a:spcPts val="900"/>
              </a:spcAft>
              <a:defRPr sz="1300">
                <a:solidFill>
                  <a:srgbClr val="262E3A"/>
                </a:solidFill>
                <a:latin typeface="Aptos"/>
              </a:defRPr>
            </a:pPr>
            <a:r>
              <a:t>• 8. Children and Inappropriate Content; Breaking Trust; Internet Addiction</a:t>
            </a:r>
          </a:p>
          <a:p>
            <a:pPr>
              <a:spcAft>
                <a:spcPts val="900"/>
              </a:spcAft>
              <a:defRPr sz="1300">
                <a:solidFill>
                  <a:srgbClr val="262E3A"/>
                </a:solidFill>
                <a:latin typeface="Aptos"/>
              </a:defRPr>
            </a:pPr>
            <a:r>
              <a:t>• 9. Professional Ethics: Introduction; Computing as a Profession</a:t>
            </a:r>
          </a:p>
          <a:p>
            <a:pPr>
              <a:spcAft>
                <a:spcPts val="900"/>
              </a:spcAft>
              <a:defRPr sz="1300">
                <a:solidFill>
                  <a:srgbClr val="262E3A"/>
                </a:solidFill>
                <a:latin typeface="Aptos"/>
              </a:defRPr>
            </a:pPr>
            <a:r>
              <a:t>• 10. Eight Principles for Morally Responsible Relationships</a:t>
            </a:r>
          </a:p>
          <a:p>
            <a:pPr>
              <a:spcAft>
                <a:spcPts val="900"/>
              </a:spcAft>
              <a:defRPr sz="1300">
                <a:solidFill>
                  <a:srgbClr val="262E3A"/>
                </a:solidFill>
                <a:latin typeface="Aptos"/>
              </a:defRPr>
            </a:pPr>
            <a:r>
              <a:t>• 11. Eight Principles for Morally Responsible Relationships – Continued</a:t>
            </a:r>
          </a:p>
          <a:p>
            <a:pPr>
              <a:spcAft>
                <a:spcPts val="900"/>
              </a:spcAft>
              <a:defRPr sz="1300">
                <a:solidFill>
                  <a:srgbClr val="262E3A"/>
                </a:solidFill>
                <a:latin typeface="Aptos"/>
              </a:defRPr>
            </a:pPr>
            <a:r>
              <a:t>• 12. Intellectual Property: Introduction; IPR; Protecting Intellectual Property</a:t>
            </a:r>
          </a:p>
          <a:p>
            <a:pPr>
              <a:spcAft>
                <a:spcPts val="900"/>
              </a:spcAft>
              <a:defRPr sz="1300">
                <a:solidFill>
                  <a:srgbClr val="262E3A"/>
                </a:solidFill>
                <a:latin typeface="Aptos"/>
              </a:defRPr>
            </a:pPr>
            <a:r>
              <a:t>• 13. Protecting Intellectual Property – Continued; Fair Use</a:t>
            </a:r>
          </a:p>
          <a:p>
            <a:pPr>
              <a:spcAft>
                <a:spcPts val="900"/>
              </a:spcAft>
              <a:defRPr sz="1300">
                <a:solidFill>
                  <a:srgbClr val="262E3A"/>
                </a:solidFill>
                <a:latin typeface="Aptos"/>
              </a:defRPr>
            </a:pPr>
            <a:r>
              <a:t>• 14. Fair Use – Continued; New Restrictions on Use</a:t>
            </a:r>
          </a:p>
          <a:p>
            <a:pPr>
              <a:spcAft>
                <a:spcPts val="900"/>
              </a:spcAft>
              <a:defRPr sz="1300">
                <a:solidFill>
                  <a:srgbClr val="262E3A"/>
                </a:solidFill>
                <a:latin typeface="Aptos"/>
              </a:defRPr>
            </a:pPr>
            <a:r>
              <a:t>• 15. Peer-to-Peer Networks and Cyberlockers</a:t>
            </a:r>
          </a:p>
          <a:p>
            <a:pPr>
              <a:spcAft>
                <a:spcPts val="900"/>
              </a:spcAft>
              <a:defRPr sz="1300">
                <a:solidFill>
                  <a:srgbClr val="262E3A"/>
                </a:solidFill>
                <a:latin typeface="Aptos"/>
              </a:defRPr>
            </a:pPr>
            <a:r>
              <a:t>• 16. Protections for Software; Open-Source Software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11521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Ethics and Social Implications of Computing   |   22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748"/>
                </a:solidFill>
                <a:latin typeface="Aptos Display"/>
              </a:defRPr>
            </a:pPr>
            <a:r>
              <a:t>32-Lecture Course Calendar | Lectures 17–32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201400" cy="5440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62E3A"/>
                </a:solidFill>
                <a:latin typeface="Aptos"/>
              </a:defRPr>
            </a:pPr>
            <a:r>
              <a:t>• 17. Open-Source Software – Continued; Legitimacy of IP Protection for Software</a:t>
            </a:r>
          </a:p>
          <a:p>
            <a:pPr>
              <a:spcAft>
                <a:spcPts val="900"/>
              </a:spcAft>
              <a:defRPr sz="1300">
                <a:solidFill>
                  <a:srgbClr val="262E3A"/>
                </a:solidFill>
                <a:latin typeface="Aptos"/>
              </a:defRPr>
            </a:pPr>
            <a:r>
              <a:t>• 18. Privacy; Information Disclosures</a:t>
            </a:r>
          </a:p>
          <a:p>
            <a:pPr>
              <a:spcAft>
                <a:spcPts val="900"/>
              </a:spcAft>
              <a:defRPr sz="1300">
                <a:solidFill>
                  <a:srgbClr val="262E3A"/>
                </a:solidFill>
                <a:latin typeface="Aptos"/>
              </a:defRPr>
            </a:pPr>
            <a:r>
              <a:t>• 19. Data Gathering and Privacy Implications; Data Mining</a:t>
            </a:r>
          </a:p>
          <a:p>
            <a:pPr>
              <a:spcAft>
                <a:spcPts val="900"/>
              </a:spcAft>
              <a:defRPr sz="1300">
                <a:solidFill>
                  <a:srgbClr val="262E3A"/>
                </a:solidFill>
                <a:latin typeface="Aptos"/>
              </a:defRPr>
            </a:pPr>
            <a:r>
              <a:t>• 20. Data Mining – Continued; Examples of Consumer Backlash</a:t>
            </a:r>
          </a:p>
          <a:p>
            <a:pPr>
              <a:spcAft>
                <a:spcPts val="900"/>
              </a:spcAft>
              <a:defRPr sz="1300">
                <a:solidFill>
                  <a:srgbClr val="262E3A"/>
                </a:solidFill>
                <a:latin typeface="Aptos"/>
              </a:defRPr>
            </a:pPr>
            <a:r>
              <a:t>• 21. Computer and Network Security: Introduction; Hacking; Malware</a:t>
            </a:r>
          </a:p>
          <a:p>
            <a:pPr>
              <a:spcAft>
                <a:spcPts val="900"/>
              </a:spcAft>
              <a:defRPr sz="1300">
                <a:solidFill>
                  <a:srgbClr val="262E3A"/>
                </a:solidFill>
                <a:latin typeface="Aptos"/>
              </a:defRPr>
            </a:pPr>
            <a:r>
              <a:t>• 22. Malware – Continued; Cybercrime and Cyber Attacks</a:t>
            </a:r>
          </a:p>
          <a:p>
            <a:pPr>
              <a:spcAft>
                <a:spcPts val="900"/>
              </a:spcAft>
              <a:defRPr sz="1300">
                <a:solidFill>
                  <a:srgbClr val="262E3A"/>
                </a:solidFill>
                <a:latin typeface="Aptos"/>
              </a:defRPr>
            </a:pPr>
            <a:r>
              <a:t>• 23. SCADA Systems; Online Voting</a:t>
            </a:r>
          </a:p>
          <a:p>
            <a:pPr>
              <a:spcAft>
                <a:spcPts val="900"/>
              </a:spcAft>
              <a:defRPr sz="1300">
                <a:solidFill>
                  <a:srgbClr val="262E3A"/>
                </a:solidFill>
                <a:latin typeface="Aptos"/>
              </a:defRPr>
            </a:pPr>
            <a:r>
              <a:t>• 24. Computer Reliability: Introduction; Data Entry/Retrieval Errors; Software/Billing Errors</a:t>
            </a:r>
          </a:p>
          <a:p>
            <a:pPr>
              <a:spcAft>
                <a:spcPts val="900"/>
              </a:spcAft>
              <a:defRPr sz="1300">
                <a:solidFill>
                  <a:srgbClr val="262E3A"/>
                </a:solidFill>
                <a:latin typeface="Aptos"/>
              </a:defRPr>
            </a:pPr>
            <a:r>
              <a:t>• 25. Software and Billing Errors – Continued; Notable Software System Failures</a:t>
            </a:r>
          </a:p>
          <a:p>
            <a:pPr>
              <a:spcAft>
                <a:spcPts val="900"/>
              </a:spcAft>
              <a:defRPr sz="1300">
                <a:solidFill>
                  <a:srgbClr val="262E3A"/>
                </a:solidFill>
                <a:latin typeface="Aptos"/>
              </a:defRPr>
            </a:pPr>
            <a:r>
              <a:t>• 26. Therac-25; Computer Simulations</a:t>
            </a:r>
          </a:p>
          <a:p>
            <a:pPr>
              <a:spcAft>
                <a:spcPts val="900"/>
              </a:spcAft>
              <a:defRPr sz="1300">
                <a:solidFill>
                  <a:srgbClr val="262E3A"/>
                </a:solidFill>
                <a:latin typeface="Aptos"/>
              </a:defRPr>
            </a:pPr>
            <a:r>
              <a:t>• 27. Software Engineering; Software Warranties; Vendor Liability</a:t>
            </a:r>
          </a:p>
          <a:p>
            <a:pPr>
              <a:spcAft>
                <a:spcPts val="900"/>
              </a:spcAft>
              <a:defRPr sz="1300">
                <a:solidFill>
                  <a:srgbClr val="262E3A"/>
                </a:solidFill>
                <a:latin typeface="Aptos"/>
              </a:defRPr>
            </a:pPr>
            <a:r>
              <a:t>• 28. Work and Wealth: Introduction; Automation and Employment; Workplace Changes</a:t>
            </a:r>
          </a:p>
          <a:p>
            <a:pPr>
              <a:spcAft>
                <a:spcPts val="900"/>
              </a:spcAft>
              <a:defRPr sz="1300">
                <a:solidFill>
                  <a:srgbClr val="262E3A"/>
                </a:solidFill>
                <a:latin typeface="Aptos"/>
              </a:defRPr>
            </a:pPr>
            <a:r>
              <a:t>• 29. Workplace Changes – Continued; Globalization; Digital Divide</a:t>
            </a:r>
          </a:p>
          <a:p>
            <a:pPr>
              <a:spcAft>
                <a:spcPts val="900"/>
              </a:spcAft>
              <a:defRPr sz="1300">
                <a:solidFill>
                  <a:srgbClr val="262E3A"/>
                </a:solidFill>
                <a:latin typeface="Aptos"/>
              </a:defRPr>
            </a:pPr>
            <a:r>
              <a:t>• 30. Work and Health; Digital Divide – Continued; Privacy and Government</a:t>
            </a:r>
          </a:p>
          <a:p>
            <a:pPr>
              <a:spcAft>
                <a:spcPts val="900"/>
              </a:spcAft>
              <a:defRPr sz="1300">
                <a:solidFill>
                  <a:srgbClr val="262E3A"/>
                </a:solidFill>
                <a:latin typeface="Aptos"/>
              </a:defRPr>
            </a:pPr>
            <a:r>
              <a:t>• 31. Privacy and Government – Continued</a:t>
            </a:r>
          </a:p>
          <a:p>
            <a:pPr>
              <a:spcAft>
                <a:spcPts val="900"/>
              </a:spcAft>
              <a:defRPr sz="1300">
                <a:solidFill>
                  <a:srgbClr val="262E3A"/>
                </a:solidFill>
                <a:latin typeface="Aptos"/>
              </a:defRPr>
            </a:pPr>
            <a:r>
              <a:t>• 32. Course Review and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11521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Ethics and Social Implications of Computing   |   23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748"/>
                </a:solidFill>
                <a:latin typeface="Aptos Display"/>
              </a:defRPr>
            </a:pPr>
            <a:r>
              <a:t>Your Role as a Computing Professional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508760"/>
            <a:ext cx="103784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100" b="1">
                <a:solidFill>
                  <a:srgbClr val="142748"/>
                </a:solidFill>
                <a:latin typeface="Aptos Display"/>
              </a:defRPr>
            </a:pPr>
            <a:r>
              <a:t>Just because we can build it does not mean we should build it.</a:t>
            </a:r>
          </a:p>
          <a:p>
            <a:pPr algn="ctr">
              <a:spcBef>
                <a:spcPts val="1800"/>
              </a:spcBef>
              <a:defRPr sz="1600">
                <a:solidFill>
                  <a:srgbClr val="2E67B2"/>
                </a:solidFill>
                <a:latin typeface="Aptos"/>
              </a:defRPr>
            </a:pPr>
            <a:r>
              <a:t>People → Organizations → Communities → Society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5120640"/>
            <a:ext cx="1005840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62E3A"/>
                </a:solidFill>
                <a:latin typeface="Aptos"/>
              </a:defRPr>
            </a:pPr>
            <a:r>
              <a:t>• Your work may influence real people and institutions.</a:t>
            </a:r>
          </a:p>
          <a:p>
            <a:pPr>
              <a:spcAft>
                <a:spcPts val="900"/>
              </a:spcAft>
              <a:defRPr sz="1500">
                <a:solidFill>
                  <a:srgbClr val="262E3A"/>
                </a:solidFill>
                <a:latin typeface="Aptos"/>
              </a:defRPr>
            </a:pPr>
            <a:r>
              <a:t>• Technical competence must be combined with ethical responsibility.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6647688"/>
            <a:ext cx="11521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Ethics and Social Implications of Computing   |   24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748"/>
                </a:solidFill>
                <a:latin typeface="Aptos Display"/>
              </a:defRPr>
            </a:pPr>
            <a:r>
              <a:t>Key Message for the Course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600200"/>
            <a:ext cx="3594506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What can we do?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Technical capability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8594" y="1600200"/>
            <a:ext cx="3594506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What should we do?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Ethical responsibility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4268" y="1600200"/>
            <a:ext cx="3594506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900" b="1">
                <a:solidFill>
                  <a:srgbClr val="2E67B2"/>
                </a:solidFill>
                <a:latin typeface="Aptos Display"/>
              </a:defRPr>
            </a:pPr>
            <a:r>
              <a:t>What happens if we do it?</a:t>
            </a:r>
          </a:p>
          <a:p>
            <a:pPr>
              <a:spcAft>
                <a:spcPts val="500"/>
              </a:spcAft>
              <a:defRPr sz="1400">
                <a:solidFill>
                  <a:srgbClr val="262E3A"/>
                </a:solidFill>
                <a:latin typeface="Aptos"/>
              </a:defRPr>
            </a:pPr>
            <a:r>
              <a:t>Social consequences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647688"/>
            <a:ext cx="11521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Ethics and Social Implications of Computing   |   25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7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234440"/>
            <a:ext cx="103327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>
                <a:solidFill>
                  <a:srgbClr val="FFFFFF"/>
                </a:solidFill>
                <a:latin typeface="Aptos Display"/>
              </a:defRPr>
            </a:pPr>
            <a:r>
              <a:t>Learn the technology.</a:t>
            </a:r>
          </a:p>
          <a:p>
            <a:pPr algn="ctr">
              <a:spcBef>
                <a:spcPts val="1000"/>
              </a:spcBef>
              <a:defRPr sz="3400">
                <a:solidFill>
                  <a:srgbClr val="FFFFFF"/>
                </a:solidFill>
                <a:latin typeface="Aptos Display"/>
              </a:defRPr>
            </a:pPr>
            <a:r>
              <a:t>Understand the consequences.</a:t>
            </a:r>
          </a:p>
          <a:p>
            <a:pPr algn="ctr">
              <a:spcBef>
                <a:spcPts val="1000"/>
              </a:spcBef>
              <a:defRPr sz="3400">
                <a:solidFill>
                  <a:srgbClr val="FFFFFF"/>
                </a:solidFill>
                <a:latin typeface="Aptos Display"/>
              </a:defRPr>
            </a:pPr>
            <a:r>
              <a:t>Think critically.</a:t>
            </a:r>
          </a:p>
          <a:p>
            <a:pPr algn="ctr">
              <a:spcBef>
                <a:spcPts val="1000"/>
              </a:spcBef>
              <a:defRPr sz="3400">
                <a:solidFill>
                  <a:srgbClr val="FFFFFF"/>
                </a:solidFill>
                <a:latin typeface="Aptos Display"/>
              </a:defRPr>
            </a:pPr>
            <a:r>
              <a:t>Act responsibly.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89204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CDDCF0"/>
                </a:solidFill>
                <a:latin typeface="Aptos"/>
              </a:defRPr>
            </a:pPr>
            <a:r>
              <a:t>Welcome to the course!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11521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Ethics and Social Implications of Computing   |  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2369</Words>
  <Application>Microsoft Office PowerPoint</Application>
  <PresentationFormat>Widescreen</PresentationFormat>
  <Paragraphs>356</Paragraphs>
  <Slides>28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saeed ahmad saeed</cp:lastModifiedBy>
  <cp:revision>18</cp:revision>
  <dcterms:created xsi:type="dcterms:W3CDTF">2013-01-27T09:14:16Z</dcterms:created>
  <dcterms:modified xsi:type="dcterms:W3CDTF">2026-09-16T04:06:54Z</dcterms:modified>
  <cp:category/>
</cp:coreProperties>
</file>