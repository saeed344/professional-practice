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87" r:id="rId5"/>
    <p:sldId id="303" r:id="rId6"/>
    <p:sldId id="275" r:id="rId7"/>
    <p:sldId id="278" r:id="rId8"/>
    <p:sldId id="280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2222" autoAdjust="0"/>
  </p:normalViewPr>
  <p:slideViewPr>
    <p:cSldViewPr snapToGrid="0" showGuides="1">
      <p:cViewPr>
        <p:scale>
          <a:sx n="77" d="100"/>
          <a:sy n="77" d="100"/>
        </p:scale>
        <p:origin x="1646" y="-725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-859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9/22/2026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9/22/2026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Computers change social interaction</a:t>
            </a:r>
          </a:p>
          <a:p>
            <a:r>
              <a:rPr lang="en-US" dirty="0"/>
              <a:t>Think about how communication has changed.</a:t>
            </a:r>
          </a:p>
          <a:p>
            <a:r>
              <a:rPr lang="en-US" dirty="0"/>
              <a:t>Previously, people might communicate through:</a:t>
            </a:r>
          </a:p>
          <a:p>
            <a:pPr lvl="0"/>
            <a:r>
              <a:rPr lang="en-US" dirty="0"/>
              <a:t>face-to-face meetings </a:t>
            </a:r>
          </a:p>
          <a:p>
            <a:pPr lvl="0"/>
            <a:r>
              <a:rPr lang="en-US" dirty="0"/>
              <a:t>letters </a:t>
            </a:r>
          </a:p>
          <a:p>
            <a:pPr lvl="0"/>
            <a:r>
              <a:rPr lang="en-US" dirty="0"/>
              <a:t>telephone calls </a:t>
            </a:r>
          </a:p>
          <a:p>
            <a:r>
              <a:rPr lang="en-US" dirty="0"/>
              <a:t>Today we have:</a:t>
            </a:r>
          </a:p>
          <a:p>
            <a:pPr lvl="0"/>
            <a:r>
              <a:rPr lang="en-US" dirty="0"/>
              <a:t>WhatsApp </a:t>
            </a:r>
          </a:p>
          <a:p>
            <a:pPr lvl="0"/>
            <a:r>
              <a:rPr lang="en-US" dirty="0"/>
              <a:t>Facebook </a:t>
            </a:r>
          </a:p>
          <a:p>
            <a:pPr lvl="0"/>
            <a:r>
              <a:rPr lang="en-US" dirty="0"/>
              <a:t>Instagram </a:t>
            </a:r>
          </a:p>
          <a:p>
            <a:pPr lvl="0"/>
            <a:r>
              <a:rPr lang="en-US" dirty="0"/>
              <a:t>email </a:t>
            </a:r>
          </a:p>
          <a:p>
            <a:pPr lvl="0"/>
            <a:r>
              <a:rPr lang="en-US" dirty="0"/>
              <a:t>video conferencing </a:t>
            </a:r>
          </a:p>
          <a:p>
            <a:pPr lvl="0"/>
            <a:r>
              <a:rPr lang="en-US" dirty="0"/>
              <a:t>AI chat systems </a:t>
            </a:r>
          </a:p>
          <a:p>
            <a:r>
              <a:rPr lang="en-US" dirty="0"/>
              <a:t>This gives us enormous benefits.</a:t>
            </a:r>
          </a:p>
          <a:p>
            <a:r>
              <a:rPr lang="en-US" dirty="0"/>
              <a:t>But we should also ask:</a:t>
            </a:r>
          </a:p>
          <a:p>
            <a:r>
              <a:rPr lang="en-US" dirty="0"/>
              <a:t>Has technology improved every aspect of human interaction?</a:t>
            </a:r>
          </a:p>
          <a:p>
            <a:r>
              <a:rPr lang="en-US" dirty="0"/>
              <a:t>Perhaps it has created:</a:t>
            </a:r>
          </a:p>
          <a:p>
            <a:pPr lvl="0"/>
            <a:r>
              <a:rPr lang="en-US" dirty="0"/>
              <a:t>faster communication </a:t>
            </a:r>
          </a:p>
          <a:p>
            <a:pPr lvl="0"/>
            <a:r>
              <a:rPr lang="en-US" dirty="0"/>
              <a:t>easier collaboration </a:t>
            </a:r>
          </a:p>
          <a:p>
            <a:r>
              <a:rPr lang="en-US" dirty="0"/>
              <a:t>but also:</a:t>
            </a:r>
          </a:p>
          <a:p>
            <a:pPr lvl="0"/>
            <a:r>
              <a:rPr lang="en-US" dirty="0"/>
              <a:t>misinformation </a:t>
            </a:r>
          </a:p>
          <a:p>
            <a:pPr lvl="0"/>
            <a:r>
              <a:rPr lang="en-US" dirty="0"/>
              <a:t>reduced face-to-face interaction </a:t>
            </a:r>
          </a:p>
          <a:p>
            <a:pPr lvl="0"/>
            <a:r>
              <a:rPr lang="en-US" dirty="0"/>
              <a:t>online harassment </a:t>
            </a:r>
          </a:p>
          <a:p>
            <a:pPr lvl="0"/>
            <a:r>
              <a:rPr lang="en-US" dirty="0"/>
              <a:t>privacy concerns </a:t>
            </a:r>
          </a:p>
          <a:p>
            <a:r>
              <a:rPr lang="en-US" dirty="0"/>
              <a:t>So we have a </a:t>
            </a:r>
            <a:r>
              <a:rPr lang="en-US" b="1" dirty="0"/>
              <a:t>trade-off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Second outcome: ethical/social trade-offs</a:t>
            </a:r>
          </a:p>
          <a:p>
            <a:r>
              <a:rPr lang="en-US" dirty="0"/>
              <a:t>Tell students:</a:t>
            </a:r>
          </a:p>
          <a:p>
            <a:r>
              <a:rPr lang="en-US" dirty="0"/>
              <a:t>“In computing, there is often no perfect solution.”</a:t>
            </a:r>
          </a:p>
          <a:p>
            <a:r>
              <a:rPr lang="en-US" dirty="0"/>
              <a:t>For example:</a:t>
            </a:r>
          </a:p>
          <a:p>
            <a:r>
              <a:rPr lang="en-US" b="1" dirty="0"/>
              <a:t>Security vs. Privacy</a:t>
            </a:r>
            <a:endParaRPr lang="en-US" dirty="0"/>
          </a:p>
          <a:p>
            <a:r>
              <a:rPr lang="en-US" dirty="0"/>
              <a:t>More surveillance may improve security, but excessive surveillance may reduce privacy.</a:t>
            </a:r>
          </a:p>
          <a:p>
            <a:r>
              <a:rPr lang="en-US" b="1" dirty="0"/>
              <a:t>Automation vs. Employment</a:t>
            </a:r>
            <a:endParaRPr lang="en-US" dirty="0"/>
          </a:p>
          <a:p>
            <a:r>
              <a:rPr lang="en-US" dirty="0"/>
              <a:t>Automation can increase productivity, but it may change employment opportunities.</a:t>
            </a:r>
          </a:p>
          <a:p>
            <a:r>
              <a:rPr lang="en-US" dirty="0"/>
              <a:t>That is what we mean by an </a:t>
            </a:r>
            <a:r>
              <a:rPr lang="en-US" b="1" dirty="0"/>
              <a:t>ethical and social trade-off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02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4989780-4749-494A-88DD-4432896B7C2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C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5D296D6-6B0F-495E-8935-B7C9DBCC890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0659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0660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0ADCBEB-3A4B-4B49-98E8-259DEF51AAB4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1683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168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4289C652-C4E0-491B-B261-6E9BA9CB34C8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2707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2708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CF4FB2F-B0FE-4118-A829-0B925B5749C6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3731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3732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r>
              <a:rPr lang="en-US" dirty="0"/>
              <a:t>Factor</a:t>
            </a:r>
          </a:p>
          <a:p>
            <a:r>
              <a:rPr lang="en-US" dirty="0"/>
              <a:t>Simple classroom example</a:t>
            </a:r>
          </a:p>
          <a:p>
            <a:r>
              <a:rPr lang="en-US" b="1" dirty="0"/>
              <a:t>1. </a:t>
            </a:r>
            <a:r>
              <a:rPr lang="en-US" b="1" dirty="0" err="1"/>
              <a:t>Age</a:t>
            </a:r>
            <a:r>
              <a:rPr lang="en-US" dirty="0" err="1"/>
              <a:t>A</a:t>
            </a:r>
            <a:r>
              <a:rPr lang="en-US" dirty="0"/>
              <a:t> teenager may think spending many hours on social media is normal, while an older person may consider excessive use irresponsible.</a:t>
            </a:r>
          </a:p>
          <a:p>
            <a:r>
              <a:rPr lang="en-US" b="1" dirty="0"/>
              <a:t>2. Cultural </a:t>
            </a:r>
            <a:r>
              <a:rPr lang="en-US" b="1" dirty="0" err="1"/>
              <a:t>group</a:t>
            </a:r>
            <a:r>
              <a:rPr lang="en-US" dirty="0" err="1"/>
              <a:t>In</a:t>
            </a:r>
            <a:r>
              <a:rPr lang="en-US" dirty="0"/>
              <a:t> one culture, maintaining strong family involvement in major personal decisions may be considered an important responsibility; in another culture, individual independence may be emphasized more strongly.</a:t>
            </a:r>
          </a:p>
          <a:p>
            <a:r>
              <a:rPr lang="en-US" b="1" dirty="0"/>
              <a:t>3. Ethnic </a:t>
            </a:r>
            <a:r>
              <a:rPr lang="en-US" b="1" dirty="0" err="1"/>
              <a:t>background</a:t>
            </a:r>
            <a:r>
              <a:rPr lang="en-US" dirty="0" err="1"/>
              <a:t>Different</a:t>
            </a:r>
            <a:r>
              <a:rPr lang="en-US" dirty="0"/>
              <a:t> ethnic communities may have different traditions about caring for elderly family members, which can influence what people consider a moral responsibility.</a:t>
            </a:r>
          </a:p>
          <a:p>
            <a:r>
              <a:rPr lang="en-US" b="1" dirty="0"/>
              <a:t>4. Religion</a:t>
            </a:r>
            <a:r>
              <a:rPr lang="en-US" dirty="0"/>
              <a:t>A person may consider certain behaviors morally required or prohibited because of their religious beliefs, while someone from another religious or non-religious background may reach a different moral judgment.</a:t>
            </a:r>
          </a:p>
          <a:p>
            <a:r>
              <a:rPr lang="en-US" b="1" dirty="0"/>
              <a:t>5. Life experiences </a:t>
            </a:r>
            <a:r>
              <a:rPr lang="en-US" dirty="0"/>
              <a:t>Someone who has experienced identity theft may place much greater moral importance on protecting personal information than someone who has never experienced it.</a:t>
            </a:r>
          </a:p>
          <a:p>
            <a:r>
              <a:rPr lang="en-US" b="1" dirty="0"/>
              <a:t>6. </a:t>
            </a:r>
            <a:r>
              <a:rPr lang="en-US" b="1" dirty="0" err="1"/>
              <a:t>Education</a:t>
            </a:r>
            <a:r>
              <a:rPr lang="en-US" dirty="0" err="1"/>
              <a:t>A</a:t>
            </a:r>
            <a:r>
              <a:rPr lang="en-US" dirty="0"/>
              <a:t> person who has studied academic integrity may have a stronger understanding of why copying another student's work without acknowledgment is wrong.</a:t>
            </a:r>
          </a:p>
          <a:p>
            <a:r>
              <a:rPr lang="en-US" b="1" dirty="0"/>
              <a:t>7. </a:t>
            </a:r>
            <a:r>
              <a:rPr lang="en-US" b="1" dirty="0" err="1"/>
              <a:t>Gender</a:t>
            </a:r>
            <a:r>
              <a:rPr lang="en-US" dirty="0" err="1"/>
              <a:t>People</a:t>
            </a:r>
            <a:r>
              <a:rPr lang="en-US" dirty="0"/>
              <a:t> of different genders may sometimes have different experiences of workplace behavior, which can influence how they perceive issues such as harassment, privacy, or equality.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33509D1-5610-4840-86A5-F8CF3F51DBCD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4755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4756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r>
              <a:rPr lang="en-US" dirty="0"/>
              <a:t>Fairness, generosity, and loyalty are examples of virtues, while vanity, greed, envy, and anger are considered vice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74F1A42-B18D-45BA-8028-454485023858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5779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5780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3A24EBE-883F-4964-A0DD-8BB56A72AF8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6803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680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D26564F-FD43-40D6-87AD-35009A2E22B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7827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7828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r>
              <a:rPr lang="en-US" b="1" dirty="0"/>
              <a:t>Ethical issues</a:t>
            </a:r>
          </a:p>
          <a:p>
            <a:pPr lvl="0"/>
            <a:r>
              <a:rPr lang="en-US" dirty="0"/>
              <a:t>Honesty </a:t>
            </a:r>
          </a:p>
          <a:p>
            <a:pPr lvl="0"/>
            <a:r>
              <a:rPr lang="en-US" dirty="0"/>
              <a:t>Financial transparency </a:t>
            </a:r>
          </a:p>
          <a:p>
            <a:pPr lvl="0"/>
            <a:r>
              <a:rPr lang="en-US" dirty="0"/>
              <a:t>Responsibility to shareholders </a:t>
            </a:r>
          </a:p>
          <a:p>
            <a:pPr lvl="0"/>
            <a:r>
              <a:rPr lang="en-US" dirty="0"/>
              <a:t>Corporate governance </a:t>
            </a:r>
          </a:p>
          <a:p>
            <a:pPr lvl="0"/>
            <a:r>
              <a:rPr lang="en-US" dirty="0"/>
              <a:t>Internal controls </a:t>
            </a:r>
          </a:p>
          <a:p>
            <a:pPr lvl="0"/>
            <a:r>
              <a:rPr lang="en-US" dirty="0"/>
              <a:t>Professional accountability </a:t>
            </a:r>
          </a:p>
          <a:p>
            <a:r>
              <a:rPr lang="en-US" b="1" dirty="0"/>
              <a:t>Important lesson</a:t>
            </a:r>
          </a:p>
          <a:p>
            <a:r>
              <a:rPr lang="en-US" b="1" dirty="0"/>
              <a:t>“False information can affect thousands of people who make decisions based on that information.”</a:t>
            </a:r>
          </a:p>
          <a:p>
            <a:endParaRPr lang="en-US" dirty="0"/>
          </a:p>
          <a:p>
            <a:r>
              <a:rPr lang="en-US" dirty="0"/>
              <a:t>HP Pretexting means using a false identity or deceptive story to obtain information from someone.</a:t>
            </a:r>
          </a:p>
          <a:p>
            <a:r>
              <a:rPr lang="en-US" b="1" dirty="0"/>
              <a:t>Ethical issues</a:t>
            </a:r>
          </a:p>
          <a:p>
            <a:pPr lvl="0"/>
            <a:r>
              <a:rPr lang="en-US" dirty="0"/>
              <a:t>Privacy </a:t>
            </a:r>
          </a:p>
          <a:p>
            <a:pPr lvl="0"/>
            <a:r>
              <a:rPr lang="en-US" dirty="0"/>
              <a:t>Deception </a:t>
            </a:r>
          </a:p>
          <a:p>
            <a:pPr lvl="0"/>
            <a:r>
              <a:rPr lang="en-US" dirty="0"/>
              <a:t>Unauthorized access to personal information </a:t>
            </a:r>
          </a:p>
          <a:p>
            <a:pPr lvl="0"/>
            <a:r>
              <a:rPr lang="en-US" dirty="0"/>
              <a:t>Surveillance </a:t>
            </a:r>
          </a:p>
          <a:p>
            <a:pPr lvl="0"/>
            <a:r>
              <a:rPr lang="en-US" dirty="0"/>
              <a:t>Professional responsibility </a:t>
            </a:r>
          </a:p>
          <a:p>
            <a:pPr lvl="0"/>
            <a:r>
              <a:rPr lang="en-US" dirty="0"/>
              <a:t>Proportionality of investigative methods </a:t>
            </a:r>
          </a:p>
          <a:p>
            <a:r>
              <a:rPr lang="en-US" b="1" dirty="0"/>
              <a:t>Important lesson</a:t>
            </a:r>
          </a:p>
          <a:p>
            <a:r>
              <a:rPr lang="en-US" b="1"/>
              <a:t>“Having a legitimate goal does not automatically make every method used to achieve that goal ethical.</a:t>
            </a:r>
            <a:endParaRPr lang="en-US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E37717E-4DFD-4028-8754-967394FFE081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8851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8852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41EB8F4-2F7A-4E67-8C9D-A7E69AC57037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9875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79876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455CC26C-B26B-46EC-95E8-26E0D4BA36B4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80899" name="Rectangle 102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ln/>
        </p:spPr>
      </p:sp>
      <p:sp>
        <p:nvSpPr>
          <p:cNvPr id="80900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334" y="0"/>
            <a:ext cx="1310643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7572375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674" y="4511785"/>
            <a:ext cx="7572376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4300538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675" y="4511785"/>
            <a:ext cx="4300538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5235798" y="1310656"/>
            <a:ext cx="3908203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1"/>
            <a:ext cx="9144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1"/>
            <a:ext cx="9144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1"/>
            <a:ext cx="9144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2971806"/>
            <a:ext cx="7553324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5" y="4655956"/>
            <a:ext cx="7553324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8675" y="1600201"/>
            <a:ext cx="3686175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3686175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5" y="1600200"/>
            <a:ext cx="3689604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8675" y="2424112"/>
            <a:ext cx="3689604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4583" y="1600200"/>
            <a:ext cx="3689604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4583" y="2424112"/>
            <a:ext cx="3689604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3288411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1386" y="1600200"/>
            <a:ext cx="4083939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2547747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3491003" y="1600200"/>
            <a:ext cx="4823184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365125"/>
            <a:ext cx="12858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8675" y="365125"/>
            <a:ext cx="6074172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4181447" y="3239394"/>
            <a:ext cx="5632704" cy="63302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8675" y="76200"/>
            <a:ext cx="748551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5" y="1600200"/>
            <a:ext cx="748665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8675" y="6356352"/>
            <a:ext cx="137216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844" y="6356350"/>
            <a:ext cx="474231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2587" y="6356352"/>
            <a:ext cx="13716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27532" y="1219202"/>
            <a:ext cx="7488936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Outcomes: CSC110/CSC410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positive and negative ways in which computer technology alters modes of social interaction at the personal level</a:t>
            </a:r>
          </a:p>
          <a:p>
            <a:r>
              <a:rPr lang="en-US" dirty="0"/>
              <a:t>Evaluate ethical / social tradeoffs in technical decisions</a:t>
            </a:r>
          </a:p>
          <a:p>
            <a:r>
              <a:rPr lang="en-US" dirty="0"/>
              <a:t>Evaluate the professional code of ethics from the ACM, the IEEE Computer Society, and other organizations</a:t>
            </a:r>
          </a:p>
          <a:p>
            <a:r>
              <a:rPr lang="en-US" dirty="0"/>
              <a:t>Identify contemporary examples of intangible digital intellectual property</a:t>
            </a:r>
          </a:p>
          <a:p>
            <a:r>
              <a:rPr lang="en-US" dirty="0"/>
              <a:t>Investigate the impact of technological solutions to privacy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Outcomes: CSC210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Examine the different theories of ethical decision-making.</a:t>
            </a:r>
          </a:p>
          <a:p>
            <a:r>
              <a:rPr lang="en-US" dirty="0"/>
              <a:t>Discuss intellectual property rights for open-source software.</a:t>
            </a:r>
          </a:p>
          <a:p>
            <a:r>
              <a:rPr lang="en-US" dirty="0"/>
              <a:t>Investigate the impact of technological solutions to privacy issues in the changing world.</a:t>
            </a:r>
          </a:p>
          <a:p>
            <a:r>
              <a:rPr lang="en-US" dirty="0"/>
              <a:t>Identify  ethical  issues  by  examining  various  case studies from ICT.</a:t>
            </a:r>
          </a:p>
          <a:p>
            <a:r>
              <a:rPr lang="en-US" b="1" dirty="0"/>
              <a:t>Note: (by the end of this course) </a:t>
            </a:r>
          </a:p>
          <a:p>
            <a:r>
              <a:rPr lang="en-US" dirty="0"/>
              <a:t>I don't want you merely to define ethics. I want you to become capable of </a:t>
            </a:r>
            <a:r>
              <a:rPr lang="en-US" b="1" dirty="0"/>
              <a:t>thinking ethically as computing professionals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6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Ethics for the Information Age, M.J. Quinn, 6</a:t>
            </a:r>
            <a:r>
              <a:rPr lang="en-US" baseline="30000" dirty="0"/>
              <a:t>th</a:t>
            </a:r>
            <a:r>
              <a:rPr lang="en-US" dirty="0"/>
              <a:t> Edition, Pearson Education</a:t>
            </a:r>
          </a:p>
          <a:p>
            <a:r>
              <a:rPr lang="en-US" dirty="0"/>
              <a:t>Ethical and Social Issues in Information Age, J. M. </a:t>
            </a:r>
            <a:r>
              <a:rPr lang="en-US" dirty="0" err="1"/>
              <a:t>Kizza</a:t>
            </a:r>
            <a:r>
              <a:rPr lang="en-US" dirty="0"/>
              <a:t>, 5</a:t>
            </a:r>
            <a:r>
              <a:rPr lang="en-US" baseline="30000" dirty="0"/>
              <a:t>th</a:t>
            </a:r>
            <a:r>
              <a:rPr lang="en-US" dirty="0"/>
              <a:t> Edition, Springer-Verlag</a:t>
            </a:r>
          </a:p>
          <a:p>
            <a:r>
              <a:rPr lang="en-US" dirty="0"/>
              <a:t>Ethics in Information Technology, G. Reynolds, 5</a:t>
            </a:r>
            <a:r>
              <a:rPr lang="en-US" baseline="30000" dirty="0"/>
              <a:t>th</a:t>
            </a:r>
            <a:r>
              <a:rPr lang="en-US" dirty="0"/>
              <a:t> Edition, Cengage Course Technology</a:t>
            </a:r>
          </a:p>
          <a:p>
            <a:r>
              <a:rPr lang="en-US" dirty="0"/>
              <a:t>A Gift of Fire, Social, Legal, and Ethical Issues for Computing Technology, S. </a:t>
            </a:r>
            <a:r>
              <a:rPr lang="en-US" dirty="0" err="1"/>
              <a:t>Baase</a:t>
            </a:r>
            <a:r>
              <a:rPr lang="en-US" dirty="0"/>
              <a:t>, 4</a:t>
            </a:r>
            <a:r>
              <a:rPr lang="en-US" baseline="30000" dirty="0"/>
              <a:t>th</a:t>
            </a:r>
            <a:r>
              <a:rPr lang="en-US" dirty="0"/>
              <a:t> Edition, Pearson Inc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Zero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“the little book of plagiarism” published by HEC.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7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  <a:p>
            <a:r>
              <a:rPr lang="en-US" dirty="0"/>
              <a:t>Positive reasons for not plagiarizing</a:t>
            </a:r>
          </a:p>
          <a:p>
            <a:r>
              <a:rPr lang="en-US" dirty="0"/>
              <a:t>Copying from single/multiple sources</a:t>
            </a:r>
          </a:p>
          <a:p>
            <a:r>
              <a:rPr lang="en-US" dirty="0"/>
              <a:t>Paraphrasing, collusion</a:t>
            </a:r>
          </a:p>
          <a:p>
            <a:r>
              <a:rPr lang="en-US" dirty="0"/>
              <a:t>How to avoid it?</a:t>
            </a:r>
          </a:p>
          <a:p>
            <a:r>
              <a:rPr lang="en-US" dirty="0"/>
              <a:t>Reference list VS bibliography</a:t>
            </a:r>
          </a:p>
          <a:p>
            <a:r>
              <a:rPr lang="en-US" dirty="0"/>
              <a:t>Plagiarism detection</a:t>
            </a:r>
          </a:p>
          <a:p>
            <a:r>
              <a:rPr lang="en-US" dirty="0"/>
              <a:t>Penalty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8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sz="4400" dirty="0"/>
              <a:t>Ethics in Information Technology, Fourth Edition</a:t>
            </a:r>
            <a:endParaRPr lang="en-US" sz="3200" i="1" dirty="0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0772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i="1" dirty="0"/>
              <a:t>Chapter 1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</a:pPr>
            <a:r>
              <a:rPr lang="en-GB" sz="3200" i="1" dirty="0"/>
              <a:t>An Overview of Ethics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Objectives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4488" indent="-344488"/>
            <a:r>
              <a:rPr lang="en-US"/>
              <a:t>As you read this chapter, consider the following questions:</a:t>
            </a:r>
          </a:p>
          <a:p>
            <a:pPr marL="798513" lvl="1" indent="-285750"/>
            <a:r>
              <a:rPr lang="en-GB"/>
              <a:t>What is ethics, and why is it important to act according to a code of ethics?</a:t>
            </a:r>
          </a:p>
          <a:p>
            <a:pPr marL="798513" lvl="1" indent="-285750"/>
            <a:r>
              <a:rPr lang="en-GB"/>
              <a:t>Why is business ethics becoming increasingly important?</a:t>
            </a:r>
          </a:p>
          <a:p>
            <a:pPr marL="798513" lvl="1" indent="-285750"/>
            <a:r>
              <a:rPr lang="en-GB"/>
              <a:t>What are organizations doing to improve their business ethics?</a:t>
            </a:r>
          </a:p>
          <a:p>
            <a:pPr marL="798513" lvl="1" indent="-285750"/>
            <a:endParaRPr lang="en-GB"/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3"/>
            <a:ext cx="3648434" cy="242886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dirty="0"/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716068B-C9AD-489D-BDB7-AE4474463BF3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Objectives (cont’d.)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/>
            <a:r>
              <a:rPr lang="en-GB"/>
              <a:t>Why are organizations interested in fostering good business ethics?</a:t>
            </a:r>
          </a:p>
          <a:p>
            <a:pPr marL="742950" lvl="1" indent="-285750"/>
            <a:r>
              <a:rPr lang="en-GB"/>
              <a:t>What approach can you take to ensure ethical decision making?</a:t>
            </a:r>
          </a:p>
          <a:p>
            <a:pPr marL="742950" lvl="1" indent="-285750"/>
            <a:r>
              <a:rPr lang="en-GB"/>
              <a:t>What trends have increased the risk of using information technology in an unethical manner?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2"/>
            <a:ext cx="3471272" cy="365125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dirty="0"/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7E9C8B6-F0F1-4B2E-AFBD-3295434A968E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4CC9E4E-4250-423D-8726-9A4F328E5B4D}" type="slidenum">
              <a:rPr lang="en-GB" smtClean="0"/>
              <a:pPr/>
              <a:t>9</a:t>
            </a:fld>
            <a:endParaRPr lang="en-GB" sz="1800"/>
          </a:p>
        </p:txBody>
      </p:sp>
      <p:sp>
        <p:nvSpPr>
          <p:cNvPr id="21508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13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What is Ethics?</a:t>
            </a: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21150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Moral code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Set of rules 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Establishes boundaries of generally accepted behavior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Different rules often have contradictions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Morality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Social conventions about right and wrong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Widely shared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Form basis for an established consensus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2"/>
            <a:ext cx="4106062" cy="365125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D3856FF-91C8-42BE-A03C-8414CDD40FE8}" type="slidenum">
              <a:rPr lang="en-GB" smtClean="0"/>
              <a:pPr/>
              <a:t>10</a:t>
            </a:fld>
            <a:endParaRPr lang="en-GB" sz="1800"/>
          </a:p>
        </p:txBody>
      </p:sp>
      <p:sp>
        <p:nvSpPr>
          <p:cNvPr id="2253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9287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What is Ethics? (cont’d.)</a:t>
            </a: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67188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Morality may vary by: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Age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Cultural group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Ethnic background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Religion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Life experiences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Education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Gender</a:t>
            </a:r>
          </a:p>
          <a:p>
            <a:pPr lvl="1"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EFC3403-1272-47AB-9D32-2869BC1E4B11}" type="slidenum">
              <a:rPr lang="en-GB" smtClean="0"/>
              <a:pPr/>
              <a:t>11</a:t>
            </a:fld>
            <a:endParaRPr lang="en-GB" sz="1800"/>
          </a:p>
        </p:txBody>
      </p:sp>
      <p:sp>
        <p:nvSpPr>
          <p:cNvPr id="2355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13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Definition of Ethics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838575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Ethics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Set of beliefs about right and wrong </a:t>
            </a:r>
            <a:r>
              <a:rPr lang="en-US"/>
              <a:t>behavior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Virtues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Habits that incline people to do what is acceptable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Vices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Habits of unacceptable </a:t>
            </a:r>
            <a:r>
              <a:rPr lang="en-US"/>
              <a:t>behavior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Virtues and vices define a personal value system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Scheme of moral values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8B90CE8-C136-4029-AF41-96FD788DA421}" type="slidenum">
              <a:rPr lang="en-GB" smtClean="0"/>
              <a:pPr/>
              <a:t>12</a:t>
            </a:fld>
            <a:endParaRPr lang="en-GB" sz="1800"/>
          </a:p>
        </p:txBody>
      </p:sp>
      <p:sp>
        <p:nvSpPr>
          <p:cNvPr id="2458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25463"/>
            <a:ext cx="8229600" cy="6413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The Importance of Integrity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79938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Integrity is a cornerstone of ethical behavior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People with integrity: 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Act in accordance with a personal code of principles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Extend to all the same respect and consideration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Apply the same moral standards in all situations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Lack of integrity emerges if you apply moral standards differently according to situation or people involved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Many ethical dilemmas are not as simple as right versus wrong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Difference Between Morals, </a:t>
            </a:r>
            <a:br>
              <a:rPr lang="en-US"/>
            </a:br>
            <a:r>
              <a:rPr lang="en-US"/>
              <a:t>Ethics, and Laws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Morals: one’s personal beliefs about right and wrong</a:t>
            </a:r>
          </a:p>
          <a:p>
            <a:pPr eaLnBrk="1" hangingPunct="1"/>
            <a:r>
              <a:rPr lang="en-US" dirty="0"/>
              <a:t>Ethics: standards or codes of behavior expected of an individual by a group</a:t>
            </a:r>
          </a:p>
          <a:p>
            <a:pPr eaLnBrk="1" hangingPunct="1"/>
            <a:r>
              <a:rPr lang="en-US" dirty="0"/>
              <a:t>Law: system of rules that tells us what we can and cannot do</a:t>
            </a:r>
          </a:p>
          <a:p>
            <a:pPr lvl="1" eaLnBrk="1" hangingPunct="1"/>
            <a:r>
              <a:rPr lang="en-US" dirty="0"/>
              <a:t>Laws are enforced by a set of institutions</a:t>
            </a:r>
          </a:p>
          <a:p>
            <a:pPr lvl="1" eaLnBrk="1" hangingPunct="1"/>
            <a:r>
              <a:rPr lang="en-US" dirty="0"/>
              <a:t>Legal acts conform to the law</a:t>
            </a:r>
          </a:p>
          <a:p>
            <a:pPr lvl="1" eaLnBrk="1" hangingPunct="1"/>
            <a:r>
              <a:rPr lang="en-US" dirty="0"/>
              <a:t>Moral acts conform to what an individual believes is the right belief of right and wrong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2"/>
            <a:ext cx="3425930" cy="365125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8F1D642-FDA1-4CA3-BFBF-DB13EBA9EAB1}" type="slidenum">
              <a:rPr lang="en-GB" smtClean="0"/>
              <a:pPr/>
              <a:t>13</a:t>
            </a:fld>
            <a:endParaRPr lang="en-GB" sz="18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Ethics in the Business World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Both the likelihood and the negative impact of inappropriate </a:t>
            </a:r>
            <a:r>
              <a:rPr lang="en-GB" dirty="0" err="1"/>
              <a:t>behavior</a:t>
            </a:r>
            <a:r>
              <a:rPr lang="en-GB" dirty="0"/>
              <a:t> have increased</a:t>
            </a:r>
          </a:p>
          <a:p>
            <a:r>
              <a:rPr lang="en-GB" dirty="0"/>
              <a:t>Several trends have increased the likelihood of unethical </a:t>
            </a:r>
            <a:r>
              <a:rPr lang="en-GB" dirty="0" err="1"/>
              <a:t>behavior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Globalization creating complex work environments</a:t>
            </a:r>
          </a:p>
          <a:p>
            <a:pPr lvl="1"/>
            <a:r>
              <a:rPr lang="en-GB" dirty="0"/>
              <a:t>Organizations challenged to maintain profits / revenue</a:t>
            </a:r>
          </a:p>
          <a:p>
            <a:pPr lvl="1"/>
            <a:r>
              <a:rPr lang="en-GB" dirty="0"/>
              <a:t>Heightened vigilance by: </a:t>
            </a:r>
          </a:p>
          <a:p>
            <a:pPr lvl="2"/>
            <a:r>
              <a:rPr lang="en-GB" dirty="0"/>
              <a:t>Employees</a:t>
            </a:r>
          </a:p>
          <a:p>
            <a:pPr lvl="2"/>
            <a:r>
              <a:rPr lang="en-GB" dirty="0"/>
              <a:t>Shareholders </a:t>
            </a:r>
          </a:p>
          <a:p>
            <a:pPr lvl="2"/>
            <a:r>
              <a:rPr lang="en-GB" dirty="0"/>
              <a:t>Regulatory agencies</a:t>
            </a:r>
          </a:p>
          <a:p>
            <a:endParaRPr lang="en-GB" dirty="0"/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2"/>
            <a:ext cx="3554399" cy="365125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dirty="0"/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F6343C9-FDB5-455D-99CF-4976C8E968B7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Ethics in the Business World (cont’d.)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Recent scandals in IT companies</a:t>
            </a:r>
          </a:p>
          <a:p>
            <a:pPr lvl="1"/>
            <a:r>
              <a:rPr lang="en-GB" dirty="0"/>
              <a:t>Satyam Computer Services (India)</a:t>
            </a:r>
          </a:p>
          <a:p>
            <a:pPr lvl="1"/>
            <a:r>
              <a:rPr lang="en-GB" dirty="0"/>
              <a:t>Hewlett Packard –</a:t>
            </a:r>
            <a:r>
              <a:rPr lang="en-US" dirty="0"/>
              <a:t> pretexting </a:t>
            </a:r>
            <a:endParaRPr lang="en-GB" dirty="0"/>
          </a:p>
          <a:p>
            <a:pPr lvl="1"/>
            <a:r>
              <a:rPr lang="en-GB" dirty="0"/>
              <a:t>Computer Associates International</a:t>
            </a:r>
          </a:p>
          <a:p>
            <a:pPr lvl="1"/>
            <a:r>
              <a:rPr lang="en-GB" dirty="0"/>
              <a:t>IBM</a:t>
            </a:r>
          </a:p>
          <a:p>
            <a:r>
              <a:rPr lang="en-GB" dirty="0"/>
              <a:t>Not just executives, but even lower-level employees, can find themselves in the middle of an ethical dilemma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2"/>
            <a:ext cx="3448601" cy="365125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dirty="0"/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4955CA3-EFD6-4BE2-B94A-652E9CF1E8C0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7DE6898-F47E-498F-BB16-70C95207902A}" type="slidenum">
              <a:rPr lang="en-GB" smtClean="0"/>
              <a:pPr/>
              <a:t>16</a:t>
            </a:fld>
            <a:endParaRPr lang="en-GB" sz="1800"/>
          </a:p>
        </p:txBody>
      </p:sp>
      <p:sp>
        <p:nvSpPr>
          <p:cNvPr id="2867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93693"/>
            <a:ext cx="8229600" cy="954107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Why Fostering Good Business Ethics Is Important </a:t>
            </a:r>
            <a:br>
              <a:rPr lang="en-GB" dirty="0"/>
            </a:br>
            <a:endParaRPr lang="en-GB" dirty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505075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gain the good will of the community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create an organization that operates consistently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foster good business practices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protect organization/employees from legal action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To avoid </a:t>
            </a:r>
            <a:r>
              <a:rPr lang="en-US"/>
              <a:t>unfavorable</a:t>
            </a:r>
            <a:r>
              <a:rPr lang="en-GB"/>
              <a:t> publicity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2"/>
            <a:ext cx="3357917" cy="365125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D907D9D-CE2B-45EC-983B-2BE4AC99FFD0}" type="slidenum">
              <a:rPr lang="en-GB" smtClean="0"/>
              <a:pPr/>
              <a:t>17</a:t>
            </a:fld>
            <a:endParaRPr lang="en-GB" sz="1800"/>
          </a:p>
        </p:txBody>
      </p:sp>
      <p:sp>
        <p:nvSpPr>
          <p:cNvPr id="2970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93693"/>
            <a:ext cx="8229600" cy="954107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     Gaining the Good Will of the Community</a:t>
            </a:r>
            <a:br>
              <a:rPr lang="en-GB" dirty="0"/>
            </a:br>
            <a:endParaRPr lang="en-GB" dirty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61160"/>
            <a:ext cx="8229600" cy="3132124"/>
          </a:xfrm>
        </p:spPr>
        <p:txBody>
          <a:bodyPr wrap="square"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Organizations have fundamental responsibilities to society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Declared in formal statement of company’s principles or beliefs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Include: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/>
              <a:t>Making contributions to charitable organizations and non profit institutions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/>
              <a:t>Providing benefits for employees in excess of legal requirements</a:t>
            </a:r>
          </a:p>
          <a:p>
            <a:pPr lvl="2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/>
              <a:t>Choosing economic opportunities that might be more socially desirable than profitable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32808CB-6D33-40A8-B34F-B337F7AC1572}" type="slidenum">
              <a:rPr lang="en-GB" smtClean="0"/>
              <a:pPr/>
              <a:t>18</a:t>
            </a:fld>
            <a:endParaRPr lang="en-GB" sz="180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00238"/>
          </a:xfrm>
        </p:spPr>
        <p:txBody>
          <a:bodyPr>
            <a:spAutoFit/>
          </a:bodyPr>
          <a:lstStyle/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Socially responsible activities create good will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Good will makes it easier for corporations to conduct business</a:t>
            </a:r>
          </a:p>
          <a:p>
            <a:pPr eaLnBrk="1" hangingPunct="1"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B1090-3219-4759-8C35-FC763A307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Gaining the Good Will of the Community (cont’d)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an Organization That Operates Consistently</a:t>
            </a:r>
            <a:endParaRPr lang="en-US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Consistency ensures that employees:</a:t>
            </a:r>
          </a:p>
          <a:p>
            <a:pPr lvl="1"/>
            <a:r>
              <a:rPr lang="en-US"/>
              <a:t>Know what is expected of them</a:t>
            </a:r>
          </a:p>
          <a:p>
            <a:pPr lvl="1"/>
            <a:r>
              <a:rPr lang="en-US"/>
              <a:t>Can employ the organization’s values to help them in decision making</a:t>
            </a:r>
          </a:p>
          <a:p>
            <a:r>
              <a:rPr lang="en-US"/>
              <a:t>Consistency also means that shareholders, customers, suppliers, and community know what they can expect of the organization</a:t>
            </a:r>
          </a:p>
          <a:p>
            <a:endParaRPr lang="en-US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8675" y="6356353"/>
            <a:ext cx="3478829" cy="242886"/>
          </a:xfrm>
          <a:noFill/>
        </p:spPr>
        <p:txBody>
          <a:bodyPr/>
          <a:lstStyle/>
          <a:p>
            <a:r>
              <a:rPr lang="en-US" dirty="0"/>
              <a:t>Ethics in Information Technology, Fourth Edition</a:t>
            </a:r>
            <a:endParaRPr lang="en-GB" sz="1800" dirty="0"/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8A8D7DE-B779-4CD2-B598-BD3AA35C90F7}" type="slidenum">
              <a:rPr lang="en-GB" smtClean="0"/>
              <a:pPr/>
              <a:t>19</a:t>
            </a:fld>
            <a:endParaRPr lang="en-GB" sz="180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Academic Literature 16x9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terms/"/>
    <ds:schemaRef ds:uri="http://purl.org/dc/dcmitype/"/>
    <ds:schemaRef ds:uri="4873beb7-5857-4685-be1f-d57550cc96cc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5499</TotalTime>
  <Words>1460</Words>
  <Application>Microsoft Office PowerPoint</Application>
  <PresentationFormat>On-screen Show (4:3)</PresentationFormat>
  <Paragraphs>230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Euphemia</vt:lpstr>
      <vt:lpstr>Plantagenet Cherokee</vt:lpstr>
      <vt:lpstr>Wingdings</vt:lpstr>
      <vt:lpstr>Academic Literature 16x9</vt:lpstr>
      <vt:lpstr>Course Learning Outcomes: CSC110/CSC410</vt:lpstr>
      <vt:lpstr>Course Learning Outcomes: CSC210</vt:lpstr>
      <vt:lpstr>Recommended Resources</vt:lpstr>
      <vt:lpstr>Assignment Zero</vt:lpstr>
      <vt:lpstr>Plagiarism</vt:lpstr>
      <vt:lpstr>Ethics in Information Technology, Fourth Edition</vt:lpstr>
      <vt:lpstr>Objectives</vt:lpstr>
      <vt:lpstr>Objectives (cont’d.)</vt:lpstr>
      <vt:lpstr>What is Ethics?</vt:lpstr>
      <vt:lpstr>What is Ethics? (cont’d.)</vt:lpstr>
      <vt:lpstr>Definition of Ethics</vt:lpstr>
      <vt:lpstr>The Importance of Integrity</vt:lpstr>
      <vt:lpstr>The Difference Between Morals,  Ethics, and Laws</vt:lpstr>
      <vt:lpstr>Ethics in the Business World</vt:lpstr>
      <vt:lpstr>Ethics in the Business World (cont’d.)</vt:lpstr>
      <vt:lpstr>Why Fostering Good Business Ethics Is Important  </vt:lpstr>
      <vt:lpstr>     Gaining the Good Will of the Community </vt:lpstr>
      <vt:lpstr>Gaining the Good Will of the Community (cont’d)</vt:lpstr>
      <vt:lpstr>Creating an Organization That Operates Consistently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Muzafar Khan</dc:creator>
  <cp:lastModifiedBy>saeed ahmad saeed</cp:lastModifiedBy>
  <cp:revision>70</cp:revision>
  <cp:lastPrinted>2017-02-06T06:50:55Z</cp:lastPrinted>
  <dcterms:created xsi:type="dcterms:W3CDTF">2017-02-03T06:11:36Z</dcterms:created>
  <dcterms:modified xsi:type="dcterms:W3CDTF">2026-09-23T02:58:03Z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